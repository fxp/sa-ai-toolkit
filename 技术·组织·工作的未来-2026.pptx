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rts/chart2.xml" ContentType="application/vnd.openxmlformats-officedocument.drawingml.chart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93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2" r:id="rId38"/>
    <p:sldId id="291" r:id="rId3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5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200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(Billion USD)</c:v>
                </c:pt>
              </c:strCache>
            </c:strRef>
          </c:tx>
          <c:spPr>
            <a:solidFill>
              <a:srgbClr val="C9674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 Q1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</c:v>
                </c:pt>
                <c:pt idx="1">
                  <c:v>1</c:v>
                </c:pt>
                <c:pt idx="2">
                  <c:v>10</c:v>
                </c:pt>
                <c:pt idx="3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CE-594C-B80D-9D310BE0B59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779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"/>
        </c:scaling>
        <c:delete val="0"/>
        <c:axPos val="l"/>
        <c:majorGridlines>
          <c:spPr>
            <a:ln w="6350" cap="flat">
              <a:solidFill>
                <a:srgbClr val="2A26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779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1726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代码由AI生成比例 / Code by AI</c:v>
                </c:pt>
              </c:strCache>
            </c:strRef>
          </c:tx>
          <c:spPr>
            <a:solidFill>
              <a:srgbClr val="C9674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Anthropic / OpenAI</c:v>
                </c:pt>
                <c:pt idx="1">
                  <c:v>AI-Native Startups</c:v>
                </c:pt>
                <c:pt idx="2">
                  <c:v>Microsoft</c:v>
                </c:pt>
                <c:pt idx="3">
                  <c:v>Traditional Enterprise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</c:v>
                </c:pt>
                <c:pt idx="1">
                  <c:v>75</c:v>
                </c:pt>
                <c:pt idx="2">
                  <c:v>30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83-DA40-B019-640E72C5ECB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779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2A26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779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172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8157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29E76-C024-D4B2-EB3B-E1A1D7346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8E3305-0A38-A436-E156-17D51CC60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A58768-A3E9-31A8-E7BC-D57FE4ACA0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11DA9-AD19-D8B5-506A-C27355F178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743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C96744"/>
          </a:solidFill>
          <a:ln w="12700">
            <a:solidFill>
              <a:srgbClr val="C9674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" name="Text 2"/>
          <p:cNvSpPr/>
          <p:nvPr/>
        </p:nvSpPr>
        <p:spPr>
          <a:xfrm>
            <a:off x="685800" y="64008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技术，组织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和工作的未来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85800" y="3429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Technology, Organizations &amp; 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4041648"/>
            <a:ext cx="7772400" cy="0"/>
          </a:xfrm>
          <a:prstGeom prst="line">
            <a:avLst/>
          </a:prstGeom>
          <a:noFill/>
          <a:ln w="1270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685800" y="4160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</a:t>
            </a:r>
            <a:r>
              <a:rPr lang="en-US" altLang="zh-CN" sz="1100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96744"/>
          </a:solidFill>
          <a:ln w="12700">
            <a:solidFill>
              <a:srgbClr val="C9674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0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QUESTION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你手上的AI，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上一次不等你发号施令就自己把事做完，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2651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是什么时候？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02920" y="4160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answer is still "never" — today's talk matters most to you.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052798-31DA-A03A-4B5B-EFCDC7DC5CDD}"/>
              </a:ext>
            </a:extLst>
          </p:cNvPr>
          <p:cNvSpPr txBox="1"/>
          <p:nvPr/>
        </p:nvSpPr>
        <p:spPr>
          <a:xfrm>
            <a:off x="902153" y="1694587"/>
            <a:ext cx="733969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3600" dirty="0">
                <a:effectLst/>
                <a:latin typeface="PingFang SC"/>
              </a:rPr>
              <a:t>请估算</a:t>
            </a:r>
            <a:r>
              <a:rPr lang="en-US" altLang="zh-CN" sz="3600" dirty="0">
                <a:effectLst/>
                <a:latin typeface="Helvetica Neue" panose="02000503000000020004" pitchFamily="2" charset="0"/>
              </a:rPr>
              <a:t>——</a:t>
            </a:r>
            <a:r>
              <a:rPr lang="zh-CN" altLang="en-US" sz="3600" dirty="0">
                <a:effectLst/>
                <a:latin typeface="PingFang SC"/>
              </a:rPr>
              <a:t>你每天工作中，有多大比例的任务</a:t>
            </a:r>
            <a:r>
              <a:rPr lang="en-US" sz="3600" dirty="0">
                <a:effectLst/>
                <a:latin typeface="Helvetica Neue" panose="02000503000000020004" pitchFamily="2" charset="0"/>
              </a:rPr>
              <a:t>AI</a:t>
            </a:r>
            <a:r>
              <a:rPr lang="zh-CN" altLang="en-US" sz="3600" dirty="0">
                <a:effectLst/>
                <a:latin typeface="PingFang SC"/>
              </a:rPr>
              <a:t>在今天就能完成？</a:t>
            </a:r>
            <a:endParaRPr lang="en-US" altLang="zh-CN" sz="3600" dirty="0">
              <a:effectLst/>
              <a:latin typeface="PingFang SC"/>
            </a:endParaRPr>
          </a:p>
          <a:p>
            <a:pPr>
              <a:buNone/>
            </a:pPr>
            <a:r>
              <a:rPr lang="en-US" altLang="zh-CN" sz="3600" dirty="0">
                <a:effectLst/>
                <a:latin typeface="Helvetica Neue" panose="02000503000000020004" pitchFamily="2" charset="0"/>
              </a:rPr>
              <a:t>10%/30%/50%/70%/90%</a:t>
            </a:r>
            <a:endParaRPr lang="zh-CN" altLang="en-US" sz="3600" dirty="0">
              <a:effectLst/>
              <a:latin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1041017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96744"/>
          </a:solidFill>
          <a:ln w="12700">
            <a:solidFill>
              <a:srgbClr val="C9674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0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THESIS  ·  核心主线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一条传导链，三次崩塌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Transmission Chain — Three Collapses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2331720" cy="2331720"/>
          </a:xfrm>
          <a:prstGeom prst="rect">
            <a:avLst/>
          </a:prstGeom>
          <a:solidFill>
            <a:srgbClr val="1A1726"/>
          </a:solidFill>
          <a:ln w="6350">
            <a:solidFill>
              <a:srgbClr val="2A2640"/>
            </a:solidFill>
            <a:prstDash val="solid"/>
          </a:ln>
          <a:effectLst>
            <a:outerShdw blurRad="1778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2331720" cy="73152"/>
          </a:xfrm>
          <a:prstGeom prst="rect">
            <a:avLst/>
          </a:prstGeom>
          <a:solidFill>
            <a:srgbClr val="C96744"/>
          </a:solidFill>
          <a:ln w="12700">
            <a:solidFill>
              <a:srgbClr val="C9674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02920" y="25786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1874520" cy="0"/>
          </a:xfrm>
          <a:prstGeom prst="line">
            <a:avLst/>
          </a:prstGeom>
          <a:noFill/>
          <a:ln w="635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667512" y="3017520"/>
            <a:ext cx="2002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工具自主性↑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autonomy expands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52928" y="2651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108960" y="1737360"/>
            <a:ext cx="2331720" cy="2331720"/>
          </a:xfrm>
          <a:prstGeom prst="rect">
            <a:avLst/>
          </a:prstGeom>
          <a:solidFill>
            <a:srgbClr val="1A1726"/>
          </a:solidFill>
          <a:ln w="6350">
            <a:solidFill>
              <a:srgbClr val="2A2640"/>
            </a:solidFill>
            <a:prstDash val="solid"/>
          </a:ln>
          <a:effectLst>
            <a:outerShdw blurRad="1778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3108960" y="1737360"/>
            <a:ext cx="2331720" cy="73152"/>
          </a:xfrm>
          <a:prstGeom prst="rect">
            <a:avLst/>
          </a:prstGeom>
          <a:solidFill>
            <a:srgbClr val="D49A38"/>
          </a:solidFill>
          <a:ln w="12700">
            <a:solidFill>
              <a:srgbClr val="D49A3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3108960" y="19202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3108960" y="25786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D49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37560" y="2926080"/>
            <a:ext cx="1874520" cy="0"/>
          </a:xfrm>
          <a:prstGeom prst="line">
            <a:avLst/>
          </a:prstGeom>
          <a:noFill/>
          <a:ln w="635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Text 16"/>
          <p:cNvSpPr/>
          <p:nvPr/>
        </p:nvSpPr>
        <p:spPr>
          <a:xfrm>
            <a:off x="3273552" y="3017520"/>
            <a:ext cx="2002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中间层崩塌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layer collapses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58968" y="26517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715000" y="1737360"/>
            <a:ext cx="2331720" cy="2331720"/>
          </a:xfrm>
          <a:prstGeom prst="rect">
            <a:avLst/>
          </a:prstGeom>
          <a:solidFill>
            <a:srgbClr val="1A1726"/>
          </a:solidFill>
          <a:ln w="6350">
            <a:solidFill>
              <a:srgbClr val="2A2640"/>
            </a:solidFill>
            <a:prstDash val="solid"/>
          </a:ln>
          <a:effectLst>
            <a:outerShdw blurRad="1778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1" name="Shape 19"/>
          <p:cNvSpPr/>
          <p:nvPr/>
        </p:nvSpPr>
        <p:spPr>
          <a:xfrm>
            <a:off x="5715000" y="1737360"/>
            <a:ext cx="2331720" cy="73152"/>
          </a:xfrm>
          <a:prstGeom prst="rect">
            <a:avLst/>
          </a:prstGeom>
          <a:solidFill>
            <a:srgbClr val="4FA87A"/>
          </a:solidFill>
          <a:ln w="12700">
            <a:solidFill>
              <a:srgbClr val="4FA87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" name="Text 20"/>
          <p:cNvSpPr/>
          <p:nvPr/>
        </p:nvSpPr>
        <p:spPr>
          <a:xfrm>
            <a:off x="5715000" y="19202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5715000" y="25786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4FA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43600" y="2926080"/>
            <a:ext cx="1874520" cy="0"/>
          </a:xfrm>
          <a:prstGeom prst="line">
            <a:avLst/>
          </a:prstGeom>
          <a:noFill/>
          <a:ln w="635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5" name="Text 23"/>
          <p:cNvSpPr/>
          <p:nvPr/>
        </p:nvSpPr>
        <p:spPr>
          <a:xfrm>
            <a:off x="5879592" y="3017520"/>
            <a:ext cx="2002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岗位价值重构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of work reshapes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42793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AI工具自主性的扩大，正在把价值创造地图上离核心越远的层级逐一消除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96744"/>
          </a:solidFill>
          <a:ln w="12700">
            <a:solidFill>
              <a:srgbClr val="C9674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0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 ·  今日议程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Acts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8229600" cy="960120"/>
          </a:xfrm>
          <a:prstGeom prst="rect">
            <a:avLst/>
          </a:prstGeom>
          <a:solidFill>
            <a:srgbClr val="1A1726"/>
          </a:solidFill>
          <a:ln w="6350">
            <a:solidFill>
              <a:srgbClr val="2A26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640080" y="1435608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1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14356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 / Technology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80136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界面战争：AI自主空间如何扩张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 Wars — how AI autonomy expanded in 6 stages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0" y="15544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423160"/>
            <a:ext cx="8229600" cy="960120"/>
          </a:xfrm>
          <a:prstGeom prst="rect">
            <a:avLst/>
          </a:prstGeom>
          <a:solidFill>
            <a:srgbClr val="1A1726"/>
          </a:solidFill>
          <a:ln w="6350">
            <a:solidFill>
              <a:srgbClr val="2A26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640080" y="2532888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1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371600" y="25328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 / Industry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89864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中间层崩塌：SaaSpocalypse &amp; COBOL事件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layer collapse — the $316B evaporation in two weeks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0" y="26517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520440"/>
            <a:ext cx="8229600" cy="960120"/>
          </a:xfrm>
          <a:prstGeom prst="rect">
            <a:avLst/>
          </a:prstGeom>
          <a:solidFill>
            <a:srgbClr val="1A1726"/>
          </a:solidFill>
          <a:ln w="6350">
            <a:solidFill>
              <a:srgbClr val="2A26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640080" y="3630168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1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371600" y="36301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 / Work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99592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岗位价值重构：谁消失，谁被放大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disappears, who gets amplified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0" y="37490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2286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b="1" dirty="0">
                <a:solidFill>
                  <a:srgbClr val="231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2377440" y="1463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/  TECHNOLOGY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377440" y="187452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2377440" y="31089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tools developed a will of their own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96744"/>
          </a:solidFill>
          <a:ln w="12700">
            <a:solidFill>
              <a:srgbClr val="C9674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0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技术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工具的本质变了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Nature of Tools Changed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931920" cy="3337560"/>
          </a:xfrm>
          <a:prstGeom prst="rect">
            <a:avLst/>
          </a:prstGeom>
          <a:solidFill>
            <a:srgbClr val="1A1726"/>
          </a:solidFill>
          <a:ln w="6350">
            <a:solidFill>
              <a:srgbClr val="2A2640"/>
            </a:solidFill>
            <a:prstDash val="solid"/>
          </a:ln>
          <a:effectLst>
            <a:outerShdw blurRad="1778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3931920" cy="64008"/>
          </a:xfrm>
          <a:prstGeom prst="rect">
            <a:avLst/>
          </a:prstGeom>
          <a:solidFill>
            <a:srgbClr val="7A779A"/>
          </a:solidFill>
          <a:ln w="12700">
            <a:solidFill>
              <a:srgbClr val="7A77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传统工具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Tool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04088" y="2249424"/>
            <a:ext cx="182880" cy="182880"/>
          </a:xfrm>
          <a:prstGeom prst="ellipse">
            <a:avLst/>
          </a:prstGeom>
          <a:solidFill>
            <a:srgbClr val="7A779A"/>
          </a:solidFill>
          <a:ln w="12700">
            <a:solidFill>
              <a:srgbClr val="7A77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978408" y="21762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确定性输出 / Deterministic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04088" y="2889504"/>
            <a:ext cx="182880" cy="182880"/>
          </a:xfrm>
          <a:prstGeom prst="ellipse">
            <a:avLst/>
          </a:prstGeom>
          <a:solidFill>
            <a:srgbClr val="7A779A"/>
          </a:solidFill>
          <a:ln w="12700">
            <a:solidFill>
              <a:srgbClr val="7A77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978408" y="281635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被动等待 / Passive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4088" y="3529584"/>
            <a:ext cx="182880" cy="182880"/>
          </a:xfrm>
          <a:prstGeom prst="ellipse">
            <a:avLst/>
          </a:prstGeom>
          <a:solidFill>
            <a:srgbClr val="7A779A"/>
          </a:solidFill>
          <a:ln w="12700">
            <a:solidFill>
              <a:srgbClr val="7A77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978408" y="34564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执行指令 / Executes commands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4088" y="4169664"/>
            <a:ext cx="182880" cy="182880"/>
          </a:xfrm>
          <a:prstGeom prst="ellipse">
            <a:avLst/>
          </a:prstGeom>
          <a:solidFill>
            <a:srgbClr val="7A779A"/>
          </a:solidFill>
          <a:ln w="12700">
            <a:solidFill>
              <a:srgbClr val="7A77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978408" y="40965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边界明确 / Fixed scope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1417320"/>
            <a:ext cx="3931920" cy="3337560"/>
          </a:xfrm>
          <a:prstGeom prst="rect">
            <a:avLst/>
          </a:prstGeom>
          <a:solidFill>
            <a:srgbClr val="1A1726"/>
          </a:solidFill>
          <a:ln w="6350">
            <a:solidFill>
              <a:srgbClr val="2A2640"/>
            </a:solidFill>
            <a:prstDash val="solid"/>
          </a:ln>
          <a:effectLst>
            <a:outerShdw blurRad="1778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7" name="Shape 15"/>
          <p:cNvSpPr/>
          <p:nvPr/>
        </p:nvSpPr>
        <p:spPr>
          <a:xfrm>
            <a:off x="4663440" y="1417320"/>
            <a:ext cx="3931920" cy="64008"/>
          </a:xfrm>
          <a:prstGeom prst="rect">
            <a:avLst/>
          </a:prstGeom>
          <a:solidFill>
            <a:srgbClr val="C96744"/>
          </a:solidFill>
          <a:ln w="12700">
            <a:solidFill>
              <a:srgbClr val="C9674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Text 16"/>
          <p:cNvSpPr/>
          <p:nvPr/>
        </p:nvSpPr>
        <p:spPr>
          <a:xfrm>
            <a:off x="4846320" y="15087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AI工具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864608" y="2249424"/>
            <a:ext cx="182880" cy="182880"/>
          </a:xfrm>
          <a:prstGeom prst="ellipse">
            <a:avLst/>
          </a:prstGeom>
          <a:solidFill>
            <a:srgbClr val="C96744"/>
          </a:solidFill>
          <a:ln w="12700">
            <a:solidFill>
              <a:srgbClr val="C9674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5138928" y="21762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概率性输出 / Probabilistic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64608" y="2889504"/>
            <a:ext cx="182880" cy="182880"/>
          </a:xfrm>
          <a:prstGeom prst="ellipse">
            <a:avLst/>
          </a:prstGeom>
          <a:solidFill>
            <a:srgbClr val="C96744"/>
          </a:solidFill>
          <a:ln w="12700">
            <a:solidFill>
              <a:srgbClr val="C9674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" name="Text 20"/>
          <p:cNvSpPr/>
          <p:nvPr/>
        </p:nvSpPr>
        <p:spPr>
          <a:xfrm>
            <a:off x="5138928" y="281635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可主动行动 / Can initiate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64608" y="3529584"/>
            <a:ext cx="182880" cy="182880"/>
          </a:xfrm>
          <a:prstGeom prst="ellipse">
            <a:avLst/>
          </a:prstGeom>
          <a:solidFill>
            <a:srgbClr val="C96744"/>
          </a:solidFill>
          <a:ln w="12700">
            <a:solidFill>
              <a:srgbClr val="C9674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4" name="Text 22"/>
          <p:cNvSpPr/>
          <p:nvPr/>
        </p:nvSpPr>
        <p:spPr>
          <a:xfrm>
            <a:off x="5138928" y="34564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自主决策 / Makes decisions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64608" y="4169664"/>
            <a:ext cx="182880" cy="182880"/>
          </a:xfrm>
          <a:prstGeom prst="ellipse">
            <a:avLst/>
          </a:prstGeom>
          <a:solidFill>
            <a:srgbClr val="C96744"/>
          </a:solidFill>
          <a:ln w="12700">
            <a:solidFill>
              <a:srgbClr val="C9674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6" name="Text 24"/>
          <p:cNvSpPr/>
          <p:nvPr/>
        </p:nvSpPr>
        <p:spPr>
          <a:xfrm>
            <a:off x="5138928" y="40965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边界动态扩展 / Expanding scope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160520" y="26517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0292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关键差异 Key Difference：工具第一次有了「行动意志」/ Tools developed agency for the first time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D18"/>
          </a:solidFill>
          <a:ln w="12700">
            <a:solidFill>
              <a:srgbClr val="0F0D1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界面战争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502920" y="2331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 Wars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3063240"/>
            <a:ext cx="3657600" cy="0"/>
          </a:xfrm>
          <a:prstGeom prst="line">
            <a:avLst/>
          </a:prstGeom>
          <a:noFill/>
          <a:ln w="1270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02920" y="3200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AI自主空间的6个演化阶段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Stages of AI Autonomy Expansion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──────────────────────────────── 2026 →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96744"/>
          </a:solidFill>
          <a:ln w="12700">
            <a:solidFill>
              <a:srgbClr val="C9674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0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界面战争 / INTERFACE WARS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AI自主空间的6个演化阶段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1371600" cy="2606040"/>
          </a:xfrm>
          <a:prstGeom prst="rect">
            <a:avLst/>
          </a:prstGeom>
          <a:solidFill>
            <a:srgbClr val="1A1726"/>
          </a:solidFill>
          <a:ln w="5080">
            <a:solidFill>
              <a:srgbClr val="2A26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1371600" cy="50292"/>
          </a:xfrm>
          <a:prstGeom prst="rect">
            <a:avLst/>
          </a:prstGeom>
          <a:solidFill>
            <a:srgbClr val="7A779A"/>
          </a:solidFill>
          <a:ln w="12700">
            <a:solidFill>
              <a:srgbClr val="7A77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228600" y="11247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83464" y="160020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" y="20756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" y="2331720"/>
            <a:ext cx="1152144" cy="0"/>
          </a:xfrm>
          <a:prstGeom prst="line">
            <a:avLst/>
          </a:prstGeom>
          <a:noFill/>
          <a:ln w="508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283464" y="2377440"/>
            <a:ext cx="1261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AI只在对话框内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lives only inside chatbox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3456432"/>
            <a:ext cx="1188720" cy="128016"/>
          </a:xfrm>
          <a:prstGeom prst="rect">
            <a:avLst/>
          </a:prstGeom>
          <a:solidFill>
            <a:srgbClr val="231F32"/>
          </a:solidFill>
          <a:ln w="1270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Shape 11"/>
          <p:cNvSpPr/>
          <p:nvPr/>
        </p:nvSpPr>
        <p:spPr>
          <a:xfrm>
            <a:off x="1636776" y="1051560"/>
            <a:ext cx="1371600" cy="2606040"/>
          </a:xfrm>
          <a:prstGeom prst="rect">
            <a:avLst/>
          </a:prstGeom>
          <a:solidFill>
            <a:srgbClr val="1A1726"/>
          </a:solidFill>
          <a:ln w="5080">
            <a:solidFill>
              <a:srgbClr val="2A26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1636776" y="1051560"/>
            <a:ext cx="1371600" cy="50292"/>
          </a:xfrm>
          <a:prstGeom prst="rect">
            <a:avLst/>
          </a:prstGeom>
          <a:solidFill>
            <a:srgbClr val="ACA8C4"/>
          </a:solidFill>
          <a:ln w="12700">
            <a:solidFill>
              <a:srgbClr val="ACA8C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1636776" y="11247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691640" y="160020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36776" y="20756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746504" y="2331720"/>
            <a:ext cx="1152144" cy="0"/>
          </a:xfrm>
          <a:prstGeom prst="line">
            <a:avLst/>
          </a:prstGeom>
          <a:noFill/>
          <a:ln w="508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1691640" y="2377440"/>
            <a:ext cx="1261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可操控单个App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one app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728216" y="3456432"/>
            <a:ext cx="1188720" cy="128016"/>
          </a:xfrm>
          <a:prstGeom prst="rect">
            <a:avLst/>
          </a:prstGeom>
          <a:solidFill>
            <a:srgbClr val="231F32"/>
          </a:solidFill>
          <a:ln w="1270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" name="Shape 19"/>
          <p:cNvSpPr/>
          <p:nvPr/>
        </p:nvSpPr>
        <p:spPr>
          <a:xfrm>
            <a:off x="1728216" y="3456432"/>
            <a:ext cx="178308" cy="128016"/>
          </a:xfrm>
          <a:prstGeom prst="rect">
            <a:avLst/>
          </a:prstGeom>
          <a:solidFill>
            <a:srgbClr val="ACA8C4"/>
          </a:solidFill>
          <a:ln w="12700">
            <a:solidFill>
              <a:srgbClr val="ACA8C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" name="Shape 20"/>
          <p:cNvSpPr/>
          <p:nvPr/>
        </p:nvSpPr>
        <p:spPr>
          <a:xfrm>
            <a:off x="3044952" y="1051560"/>
            <a:ext cx="1371600" cy="2606040"/>
          </a:xfrm>
          <a:prstGeom prst="rect">
            <a:avLst/>
          </a:prstGeom>
          <a:solidFill>
            <a:srgbClr val="1A1726"/>
          </a:solidFill>
          <a:ln w="5080">
            <a:solidFill>
              <a:srgbClr val="2A26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3" name="Shape 21"/>
          <p:cNvSpPr/>
          <p:nvPr/>
        </p:nvSpPr>
        <p:spPr>
          <a:xfrm>
            <a:off x="3044952" y="1051560"/>
            <a:ext cx="1371600" cy="50292"/>
          </a:xfrm>
          <a:prstGeom prst="rect">
            <a:avLst/>
          </a:prstGeom>
          <a:solidFill>
            <a:srgbClr val="D49A38"/>
          </a:solidFill>
          <a:ln w="12700">
            <a:solidFill>
              <a:srgbClr val="D49A3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4" name="Text 22"/>
          <p:cNvSpPr/>
          <p:nvPr/>
        </p:nvSpPr>
        <p:spPr>
          <a:xfrm>
            <a:off x="3044952" y="11247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9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3099816" y="160020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/ n8n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44952" y="20756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54680" y="2331720"/>
            <a:ext cx="1152144" cy="0"/>
          </a:xfrm>
          <a:prstGeom prst="line">
            <a:avLst/>
          </a:prstGeom>
          <a:noFill/>
          <a:ln w="508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8" name="Text 26"/>
          <p:cNvSpPr/>
          <p:nvPr/>
        </p:nvSpPr>
        <p:spPr>
          <a:xfrm>
            <a:off x="3099816" y="2377440"/>
            <a:ext cx="1261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后端Workflow节点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workflow nodes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136392" y="3456432"/>
            <a:ext cx="1188720" cy="128016"/>
          </a:xfrm>
          <a:prstGeom prst="rect">
            <a:avLst/>
          </a:prstGeom>
          <a:solidFill>
            <a:srgbClr val="231F32"/>
          </a:solidFill>
          <a:ln w="1270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0" name="Shape 28"/>
          <p:cNvSpPr/>
          <p:nvPr/>
        </p:nvSpPr>
        <p:spPr>
          <a:xfrm>
            <a:off x="3136392" y="3456432"/>
            <a:ext cx="356616" cy="128016"/>
          </a:xfrm>
          <a:prstGeom prst="rect">
            <a:avLst/>
          </a:prstGeom>
          <a:solidFill>
            <a:srgbClr val="D49A38"/>
          </a:solidFill>
          <a:ln w="12700">
            <a:solidFill>
              <a:srgbClr val="D49A3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1" name="Shape 29"/>
          <p:cNvSpPr/>
          <p:nvPr/>
        </p:nvSpPr>
        <p:spPr>
          <a:xfrm>
            <a:off x="4453128" y="1051560"/>
            <a:ext cx="1371600" cy="2606040"/>
          </a:xfrm>
          <a:prstGeom prst="rect">
            <a:avLst/>
          </a:prstGeom>
          <a:solidFill>
            <a:srgbClr val="1A1726"/>
          </a:solidFill>
          <a:ln w="5080">
            <a:solidFill>
              <a:srgbClr val="2A26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32" name="Shape 30"/>
          <p:cNvSpPr/>
          <p:nvPr/>
        </p:nvSpPr>
        <p:spPr>
          <a:xfrm>
            <a:off x="4453128" y="1051560"/>
            <a:ext cx="1371600" cy="50292"/>
          </a:xfrm>
          <a:prstGeom prst="rect">
            <a:avLst/>
          </a:prstGeom>
          <a:solidFill>
            <a:srgbClr val="E08860"/>
          </a:solidFill>
          <a:ln w="12700">
            <a:solidFill>
              <a:srgbClr val="E088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3" name="Text 31"/>
          <p:cNvSpPr/>
          <p:nvPr/>
        </p:nvSpPr>
        <p:spPr>
          <a:xfrm>
            <a:off x="4453128" y="11247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8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4507992" y="160020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/ Cowork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453128" y="20756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62856" y="2331720"/>
            <a:ext cx="1152144" cy="0"/>
          </a:xfrm>
          <a:prstGeom prst="line">
            <a:avLst/>
          </a:prstGeom>
          <a:noFill/>
          <a:ln w="508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7" name="Text 35"/>
          <p:cNvSpPr/>
          <p:nvPr/>
        </p:nvSpPr>
        <p:spPr>
          <a:xfrm>
            <a:off x="4507992" y="2377440"/>
            <a:ext cx="1261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进入个人电脑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local computer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44568" y="3456432"/>
            <a:ext cx="1188720" cy="128016"/>
          </a:xfrm>
          <a:prstGeom prst="rect">
            <a:avLst/>
          </a:prstGeom>
          <a:solidFill>
            <a:srgbClr val="231F32"/>
          </a:solidFill>
          <a:ln w="1270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9" name="Shape 37"/>
          <p:cNvSpPr/>
          <p:nvPr/>
        </p:nvSpPr>
        <p:spPr>
          <a:xfrm>
            <a:off x="4544568" y="3456432"/>
            <a:ext cx="653796" cy="128016"/>
          </a:xfrm>
          <a:prstGeom prst="rect">
            <a:avLst/>
          </a:prstGeom>
          <a:solidFill>
            <a:srgbClr val="E08860"/>
          </a:solidFill>
          <a:ln w="12700">
            <a:solidFill>
              <a:srgbClr val="E088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0" name="Shape 38"/>
          <p:cNvSpPr/>
          <p:nvPr/>
        </p:nvSpPr>
        <p:spPr>
          <a:xfrm>
            <a:off x="5861304" y="1051560"/>
            <a:ext cx="1371600" cy="2606040"/>
          </a:xfrm>
          <a:prstGeom prst="rect">
            <a:avLst/>
          </a:prstGeom>
          <a:solidFill>
            <a:srgbClr val="1A1726"/>
          </a:solidFill>
          <a:ln w="5080">
            <a:solidFill>
              <a:srgbClr val="2A26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41" name="Shape 39"/>
          <p:cNvSpPr/>
          <p:nvPr/>
        </p:nvSpPr>
        <p:spPr>
          <a:xfrm>
            <a:off x="5861304" y="1051560"/>
            <a:ext cx="1371600" cy="50292"/>
          </a:xfrm>
          <a:prstGeom prst="rect">
            <a:avLst/>
          </a:prstGeom>
          <a:solidFill>
            <a:srgbClr val="C96744"/>
          </a:solidFill>
          <a:ln w="12700">
            <a:solidFill>
              <a:srgbClr val="C9674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2" name="Text 40"/>
          <p:cNvSpPr/>
          <p:nvPr/>
        </p:nvSpPr>
        <p:spPr>
          <a:xfrm>
            <a:off x="5861304" y="11247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5916168" y="160020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861304" y="20756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971032" y="2331720"/>
            <a:ext cx="1152144" cy="0"/>
          </a:xfrm>
          <a:prstGeom prst="line">
            <a:avLst/>
          </a:prstGeom>
          <a:noFill/>
          <a:ln w="508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6" name="Text 44"/>
          <p:cNvSpPr/>
          <p:nvPr/>
        </p:nvSpPr>
        <p:spPr>
          <a:xfrm>
            <a:off x="5916168" y="2377440"/>
            <a:ext cx="1261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操作系统级自主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OS-level autonomy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952744" y="3456432"/>
            <a:ext cx="1188720" cy="128016"/>
          </a:xfrm>
          <a:prstGeom prst="rect">
            <a:avLst/>
          </a:prstGeom>
          <a:solidFill>
            <a:srgbClr val="231F32"/>
          </a:solidFill>
          <a:ln w="1270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8" name="Shape 46"/>
          <p:cNvSpPr/>
          <p:nvPr/>
        </p:nvSpPr>
        <p:spPr>
          <a:xfrm>
            <a:off x="5952744" y="3456432"/>
            <a:ext cx="950976" cy="128016"/>
          </a:xfrm>
          <a:prstGeom prst="rect">
            <a:avLst/>
          </a:prstGeom>
          <a:solidFill>
            <a:srgbClr val="C96744"/>
          </a:solidFill>
          <a:ln w="12700">
            <a:solidFill>
              <a:srgbClr val="C9674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9" name="Shape 47"/>
          <p:cNvSpPr/>
          <p:nvPr/>
        </p:nvSpPr>
        <p:spPr>
          <a:xfrm>
            <a:off x="7269480" y="1051560"/>
            <a:ext cx="1371600" cy="2606040"/>
          </a:xfrm>
          <a:prstGeom prst="rect">
            <a:avLst/>
          </a:prstGeom>
          <a:solidFill>
            <a:srgbClr val="1A1726"/>
          </a:solidFill>
          <a:ln w="5080">
            <a:solidFill>
              <a:srgbClr val="2A26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50" name="Shape 48"/>
          <p:cNvSpPr/>
          <p:nvPr/>
        </p:nvSpPr>
        <p:spPr>
          <a:xfrm>
            <a:off x="7269480" y="1051560"/>
            <a:ext cx="1371600" cy="50292"/>
          </a:xfrm>
          <a:prstGeom prst="rect">
            <a:avLst/>
          </a:prstGeom>
          <a:solidFill>
            <a:srgbClr val="E03A3A"/>
          </a:solidFill>
          <a:ln w="12700">
            <a:solidFill>
              <a:srgbClr val="E03A3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1" name="Text 49"/>
          <p:cNvSpPr/>
          <p:nvPr/>
        </p:nvSpPr>
        <p:spPr>
          <a:xfrm>
            <a:off x="7269480" y="11247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2600" dirty="0"/>
          </a:p>
        </p:txBody>
      </p:sp>
      <p:sp>
        <p:nvSpPr>
          <p:cNvPr id="52" name="Text 50"/>
          <p:cNvSpPr/>
          <p:nvPr/>
        </p:nvSpPr>
        <p:spPr>
          <a:xfrm>
            <a:off x="7324344" y="160020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Moltbook / RentAHuman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269480" y="20756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379208" y="2331720"/>
            <a:ext cx="1152144" cy="0"/>
          </a:xfrm>
          <a:prstGeom prst="line">
            <a:avLst/>
          </a:prstGeom>
          <a:noFill/>
          <a:ln w="508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5" name="Text 53"/>
          <p:cNvSpPr/>
          <p:nvPr/>
        </p:nvSpPr>
        <p:spPr>
          <a:xfrm>
            <a:off x="7324344" y="2377440"/>
            <a:ext cx="1261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人类退居审核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become reviewers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360920" y="3456432"/>
            <a:ext cx="1188720" cy="128016"/>
          </a:xfrm>
          <a:prstGeom prst="rect">
            <a:avLst/>
          </a:prstGeom>
          <a:solidFill>
            <a:srgbClr val="231F32"/>
          </a:solidFill>
          <a:ln w="1270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7" name="Shape 55"/>
          <p:cNvSpPr/>
          <p:nvPr/>
        </p:nvSpPr>
        <p:spPr>
          <a:xfrm>
            <a:off x="7360920" y="3456432"/>
            <a:ext cx="1129284" cy="128016"/>
          </a:xfrm>
          <a:prstGeom prst="rect">
            <a:avLst/>
          </a:prstGeom>
          <a:solidFill>
            <a:srgbClr val="E03A3A"/>
          </a:solidFill>
          <a:ln w="12700">
            <a:solidFill>
              <a:srgbClr val="E03A3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8" name="Text 56"/>
          <p:cNvSpPr/>
          <p:nvPr/>
        </p:nvSpPr>
        <p:spPr>
          <a:xfrm>
            <a:off x="228600" y="385876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200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AI自主空间不断扩大  Expanding AI Autonomy Space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228600" y="420624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8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你今天处于哪个阶段，决定了你对AI价值还有多少认知幻觉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96744"/>
          </a:solidFill>
          <a:ln w="12700">
            <a:solidFill>
              <a:srgbClr val="C9674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0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界面战争关键节点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2025→2026：决定性跨越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8229600" cy="1005840"/>
          </a:xfrm>
          <a:prstGeom prst="rect">
            <a:avLst/>
          </a:prstGeom>
          <a:solidFill>
            <a:srgbClr val="1A1726"/>
          </a:solidFill>
          <a:ln w="6350">
            <a:solidFill>
              <a:srgbClr val="2A26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4864" cy="1005840"/>
          </a:xfrm>
          <a:prstGeom prst="rect">
            <a:avLst/>
          </a:prstGeom>
          <a:solidFill>
            <a:srgbClr val="E08860"/>
          </a:solidFill>
          <a:ln w="12700">
            <a:solidFill>
              <a:srgbClr val="E0886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685800" y="1325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8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132588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 ·  Claude Code / Cowork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16916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AI真正进入个人电脑。访问本地文件、跨应用行动。这是AI从「云端」到「桌面」的里程碑。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enters the personal computer — local files, cross-app actions.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404872"/>
            <a:ext cx="8229600" cy="1005840"/>
          </a:xfrm>
          <a:prstGeom prst="rect">
            <a:avLst/>
          </a:prstGeom>
          <a:solidFill>
            <a:srgbClr val="1A1726"/>
          </a:solidFill>
          <a:ln w="6350">
            <a:solidFill>
              <a:srgbClr val="2A26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1" name="Shape 9"/>
          <p:cNvSpPr/>
          <p:nvPr/>
        </p:nvSpPr>
        <p:spPr>
          <a:xfrm>
            <a:off x="502920" y="2404872"/>
            <a:ext cx="54864" cy="1005840"/>
          </a:xfrm>
          <a:prstGeom prst="rect">
            <a:avLst/>
          </a:prstGeom>
          <a:solidFill>
            <a:srgbClr val="C96744"/>
          </a:solidFill>
          <a:ln w="12700">
            <a:solidFill>
              <a:srgbClr val="C9674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685800" y="249631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" y="249631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 ·  OpenClaw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286207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操作系统级自主性。可以主动完成任务而不等待指令。Unitree机器人控制、自学编程接外包。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OS-level autonomy — initiates tasks, controls robotics.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575304"/>
            <a:ext cx="8229600" cy="1005840"/>
          </a:xfrm>
          <a:prstGeom prst="rect">
            <a:avLst/>
          </a:prstGeom>
          <a:solidFill>
            <a:srgbClr val="1A1726"/>
          </a:solidFill>
          <a:ln w="6350">
            <a:solidFill>
              <a:srgbClr val="2A26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6" name="Shape 14"/>
          <p:cNvSpPr/>
          <p:nvPr/>
        </p:nvSpPr>
        <p:spPr>
          <a:xfrm>
            <a:off x="502920" y="3575304"/>
            <a:ext cx="54864" cy="1005840"/>
          </a:xfrm>
          <a:prstGeom prst="rect">
            <a:avLst/>
          </a:prstGeom>
          <a:solidFill>
            <a:srgbClr val="E03A3A"/>
          </a:solidFill>
          <a:ln w="12700">
            <a:solidFill>
              <a:srgbClr val="E03A3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685800" y="366674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25880" y="366674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Cowork 桌面模式正式发布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4032504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Claude直接接管鼠标和键盘。「从文字生成跨入行动执行」——Anthropic官方措辞。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takes over mouse &amp; keyboard. From 'text generation' to 'action execution'.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96744"/>
          </a:solidFill>
          <a:ln w="12700">
            <a:solidFill>
              <a:srgbClr val="C9674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0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范式转变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嵌入逻辑已死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Goal-Driven &gt; Embedded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3749040" cy="3200400"/>
          </a:xfrm>
          <a:prstGeom prst="rect">
            <a:avLst/>
          </a:prstGeom>
          <a:solidFill>
            <a:srgbClr val="1A1726"/>
          </a:solidFill>
          <a:ln w="6350">
            <a:solidFill>
              <a:srgbClr val="7A77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旧范式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1965960"/>
            <a:ext cx="3383280" cy="475488"/>
          </a:xfrm>
          <a:prstGeom prst="rect">
            <a:avLst/>
          </a:prstGeom>
          <a:solidFill>
            <a:srgbClr val="231F32"/>
          </a:solidFill>
          <a:ln w="381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预先设计每一个节点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560320"/>
            <a:ext cx="3383280" cy="475488"/>
          </a:xfrm>
          <a:prstGeom prst="rect">
            <a:avLst/>
          </a:prstGeom>
          <a:solidFill>
            <a:srgbClr val="231F32"/>
          </a:solidFill>
          <a:ln w="381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Text 8"/>
          <p:cNvSpPr/>
          <p:nvPr/>
        </p:nvSpPr>
        <p:spPr>
          <a:xfrm>
            <a:off x="777240" y="26060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AI只能在指定位置运行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3154680"/>
            <a:ext cx="3383280" cy="475488"/>
          </a:xfrm>
          <a:prstGeom prst="rect">
            <a:avLst/>
          </a:prstGeom>
          <a:solidFill>
            <a:srgbClr val="231F32"/>
          </a:solidFill>
          <a:ln w="381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777240" y="3200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流程由人定义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3749040"/>
            <a:ext cx="3383280" cy="475488"/>
          </a:xfrm>
          <a:prstGeom prst="rect">
            <a:avLst/>
          </a:prstGeom>
          <a:solidFill>
            <a:srgbClr val="231F32"/>
          </a:solidFill>
          <a:ln w="381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Text 12"/>
          <p:cNvSpPr/>
          <p:nvPr/>
        </p:nvSpPr>
        <p:spPr>
          <a:xfrm>
            <a:off x="777240" y="37947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嵌入固定Workflow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34840" y="25603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5029200" y="1371600"/>
            <a:ext cx="3657600" cy="3200400"/>
          </a:xfrm>
          <a:prstGeom prst="rect">
            <a:avLst/>
          </a:prstGeom>
          <a:solidFill>
            <a:srgbClr val="1A1726"/>
          </a:solidFill>
          <a:ln w="10160">
            <a:solidFill>
              <a:srgbClr val="C9674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Shape 15"/>
          <p:cNvSpPr/>
          <p:nvPr/>
        </p:nvSpPr>
        <p:spPr>
          <a:xfrm>
            <a:off x="5029200" y="1371600"/>
            <a:ext cx="3657600" cy="64008"/>
          </a:xfrm>
          <a:prstGeom prst="rect">
            <a:avLst/>
          </a:prstGeom>
          <a:solidFill>
            <a:srgbClr val="C96744"/>
          </a:solidFill>
          <a:ln w="12700">
            <a:solidFill>
              <a:srgbClr val="C9674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Text 16"/>
          <p:cNvSpPr/>
          <p:nvPr/>
        </p:nvSpPr>
        <p:spPr>
          <a:xfrm>
            <a:off x="5029200" y="1417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新范式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193792" y="1965960"/>
            <a:ext cx="3337560" cy="475488"/>
          </a:xfrm>
          <a:prstGeom prst="rect">
            <a:avLst/>
          </a:prstGeom>
          <a:solidFill>
            <a:srgbClr val="231F32"/>
          </a:solidFill>
          <a:ln w="381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5285232" y="201168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给AI一个目标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193792" y="2560320"/>
            <a:ext cx="3337560" cy="475488"/>
          </a:xfrm>
          <a:prstGeom prst="rect">
            <a:avLst/>
          </a:prstGeom>
          <a:solidFill>
            <a:srgbClr val="231F32"/>
          </a:solidFill>
          <a:ln w="381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" name="Text 20"/>
          <p:cNvSpPr/>
          <p:nvPr/>
        </p:nvSpPr>
        <p:spPr>
          <a:xfrm>
            <a:off x="5285232" y="260604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AI自主选择路径和工具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193792" y="3154680"/>
            <a:ext cx="3337560" cy="475488"/>
          </a:xfrm>
          <a:prstGeom prst="rect">
            <a:avLst/>
          </a:prstGeom>
          <a:solidFill>
            <a:srgbClr val="231F32"/>
          </a:solidFill>
          <a:ln w="381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4" name="Text 22"/>
          <p:cNvSpPr/>
          <p:nvPr/>
        </p:nvSpPr>
        <p:spPr>
          <a:xfrm>
            <a:off x="5285232" y="32004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流程由AI决定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193792" y="3749040"/>
            <a:ext cx="3337560" cy="475488"/>
          </a:xfrm>
          <a:prstGeom prst="rect">
            <a:avLst/>
          </a:prstGeom>
          <a:solidFill>
            <a:srgbClr val="231F32"/>
          </a:solidFill>
          <a:ln w="381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6" name="Text 24"/>
          <p:cNvSpPr/>
          <p:nvPr/>
        </p:nvSpPr>
        <p:spPr>
          <a:xfrm>
            <a:off x="5285232" y="37947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MCP标准一次适配所有工具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Karpathy: "CLI是给Agent最好的界面" — not because it's cool, but because CLI = task environment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96744"/>
          </a:solidFill>
          <a:ln w="12700">
            <a:solidFill>
              <a:srgbClr val="C9674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0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能力评测演进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Benchmark的进化 = 采纳率的信号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2560320" cy="2926080"/>
          </a:xfrm>
          <a:prstGeom prst="rect">
            <a:avLst/>
          </a:prstGeom>
          <a:solidFill>
            <a:srgbClr val="1A1726"/>
          </a:solidFill>
          <a:ln w="6350">
            <a:solidFill>
              <a:srgbClr val="2A2640"/>
            </a:solidFill>
            <a:prstDash val="solid"/>
          </a:ln>
          <a:effectLst>
            <a:outerShdw blurRad="1778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2560320" cy="64008"/>
          </a:xfrm>
          <a:prstGeom prst="rect">
            <a:avLst/>
          </a:prstGeom>
          <a:solidFill>
            <a:srgbClr val="ACA8C4"/>
          </a:solidFill>
          <a:ln w="12700">
            <a:solidFill>
              <a:srgbClr val="ACA8C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31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Benchmark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1208" y="2651760"/>
            <a:ext cx="2340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MMLU / HumanEval / ARC-AGI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3310128"/>
            <a:ext cx="2194560" cy="0"/>
          </a:xfrm>
          <a:prstGeom prst="line">
            <a:avLst/>
          </a:prstGeom>
          <a:noFill/>
          <a:ln w="508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521208" y="3401568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模型能力边界 / Where the model stops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80944" y="26060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264408" y="1417320"/>
            <a:ext cx="2560320" cy="2926080"/>
          </a:xfrm>
          <a:prstGeom prst="rect">
            <a:avLst/>
          </a:prstGeom>
          <a:solidFill>
            <a:srgbClr val="1A1726"/>
          </a:solidFill>
          <a:ln w="6350">
            <a:solidFill>
              <a:srgbClr val="2A2640"/>
            </a:solidFill>
            <a:prstDash val="solid"/>
          </a:ln>
          <a:effectLst>
            <a:outerShdw blurRad="1778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3264408" y="1417320"/>
            <a:ext cx="2560320" cy="64008"/>
          </a:xfrm>
          <a:prstGeom prst="rect">
            <a:avLst/>
          </a:prstGeom>
          <a:solidFill>
            <a:srgbClr val="D49A38"/>
          </a:solidFill>
          <a:ln w="12700">
            <a:solidFill>
              <a:srgbClr val="D49A3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3264408" y="15087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31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401568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Benchmark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74136" y="2651760"/>
            <a:ext cx="23408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9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 / CUB / PinchBench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47288" y="3310128"/>
            <a:ext cx="2194560" cy="0"/>
          </a:xfrm>
          <a:prstGeom prst="line">
            <a:avLst/>
          </a:prstGeom>
          <a:noFill/>
          <a:ln w="508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3374136" y="3401568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自主任务完成率 / Autonomous task completion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33872" y="26060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117336" y="1417320"/>
            <a:ext cx="2926080" cy="2926080"/>
          </a:xfrm>
          <a:prstGeom prst="rect">
            <a:avLst/>
          </a:prstGeom>
          <a:solidFill>
            <a:srgbClr val="1A1726"/>
          </a:solidFill>
          <a:ln w="6350">
            <a:solidFill>
              <a:srgbClr val="2A2640"/>
            </a:solidFill>
            <a:prstDash val="solid"/>
          </a:ln>
          <a:effectLst>
            <a:outerShdw blurRad="1778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2" name="Shape 20"/>
          <p:cNvSpPr/>
          <p:nvPr/>
        </p:nvSpPr>
        <p:spPr>
          <a:xfrm>
            <a:off x="6117336" y="1417320"/>
            <a:ext cx="2926080" cy="64008"/>
          </a:xfrm>
          <a:prstGeom prst="rect">
            <a:avLst/>
          </a:prstGeom>
          <a:solidFill>
            <a:srgbClr val="C96744"/>
          </a:solidFill>
          <a:ln w="12700">
            <a:solidFill>
              <a:srgbClr val="C9674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6117336" y="15087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31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254496" y="2103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Task Benchmark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27064" y="2651760"/>
            <a:ext cx="2706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DeliveryBench / FinGPT / Android Bench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0216" y="3310128"/>
            <a:ext cx="2560320" cy="0"/>
          </a:xfrm>
          <a:prstGeom prst="line">
            <a:avLst/>
          </a:prstGeom>
          <a:noFill/>
          <a:ln w="508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7" name="Text 25"/>
          <p:cNvSpPr/>
          <p:nvPr/>
        </p:nvSpPr>
        <p:spPr>
          <a:xfrm>
            <a:off x="6227064" y="3401568"/>
            <a:ext cx="2706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真实行业采纳率 / Real-world adoption rate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457200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E08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行业专家，而非工程师，才能打造最好的行业AI工具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08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experts, not engineers, build the best industry-specific AI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96744"/>
          </a:solidFill>
          <a:ln w="12700">
            <a:solidFill>
              <a:srgbClr val="C9674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0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Agentic Pattern的极致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Ralph Loop：不会停下来的AI员工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7472" y="1417320"/>
            <a:ext cx="1389888" cy="658368"/>
          </a:xfrm>
          <a:prstGeom prst="rect">
            <a:avLst/>
          </a:prstGeom>
          <a:solidFill>
            <a:srgbClr val="231F32"/>
          </a:solidFill>
          <a:ln w="5080">
            <a:solidFill>
              <a:srgbClr val="2A26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347472" y="146304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读取目标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Goal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37360" y="1581912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901952" y="1417320"/>
            <a:ext cx="1389888" cy="658368"/>
          </a:xfrm>
          <a:prstGeom prst="rect">
            <a:avLst/>
          </a:prstGeom>
          <a:solidFill>
            <a:srgbClr val="231F32"/>
          </a:solidFill>
          <a:ln w="5080">
            <a:solidFill>
              <a:srgbClr val="2A26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1901952" y="146304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执行任务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0" y="1581912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56432" y="1417320"/>
            <a:ext cx="1389888" cy="658368"/>
          </a:xfrm>
          <a:prstGeom prst="rect">
            <a:avLst/>
          </a:prstGeom>
          <a:solidFill>
            <a:srgbClr val="231F32"/>
          </a:solidFill>
          <a:ln w="5080">
            <a:solidFill>
              <a:srgbClr val="2A26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3456432" y="146304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记录进度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log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581912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10912" y="1417320"/>
            <a:ext cx="1389888" cy="658368"/>
          </a:xfrm>
          <a:prstGeom prst="rect">
            <a:avLst/>
          </a:prstGeom>
          <a:solidFill>
            <a:srgbClr val="231F32"/>
          </a:solidFill>
          <a:ln w="5080">
            <a:solidFill>
              <a:srgbClr val="2A26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5010912" y="146304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自我评估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1581912"/>
            <a:ext cx="164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565392" y="1417320"/>
            <a:ext cx="1389888" cy="658368"/>
          </a:xfrm>
          <a:prstGeom prst="rect">
            <a:avLst/>
          </a:prstGeom>
          <a:solidFill>
            <a:srgbClr val="231F32"/>
          </a:solidFill>
          <a:ln w="12700">
            <a:solidFill>
              <a:srgbClr val="C96744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8" name="Text 16"/>
          <p:cNvSpPr/>
          <p:nvPr/>
        </p:nvSpPr>
        <p:spPr>
          <a:xfrm>
            <a:off x="6565392" y="146304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继续/完成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Loop/Done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2148840"/>
            <a:ext cx="6766560" cy="0"/>
          </a:xfrm>
          <a:prstGeom prst="line">
            <a:avLst/>
          </a:prstGeom>
          <a:noFill/>
          <a:ln w="6350">
            <a:solidFill>
              <a:srgbClr val="2A2640"/>
            </a:solidFill>
            <a:prstDash val="dash"/>
          </a:ln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347472" y="22128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默认10轮迭代循环，直到完成所有需求 / Default 10 iterations until all requirements met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7472" y="2487168"/>
            <a:ext cx="8449056" cy="749808"/>
          </a:xfrm>
          <a:prstGeom prst="rect">
            <a:avLst/>
          </a:prstGeom>
          <a:solidFill>
            <a:srgbClr val="1A1726"/>
          </a:solidFill>
          <a:ln w="6350">
            <a:solidFill>
              <a:srgbClr val="2A26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2" name="Shape 20"/>
          <p:cNvSpPr/>
          <p:nvPr/>
        </p:nvSpPr>
        <p:spPr>
          <a:xfrm>
            <a:off x="347472" y="2487168"/>
            <a:ext cx="50292" cy="749808"/>
          </a:xfrm>
          <a:prstGeom prst="rect">
            <a:avLst/>
          </a:prstGeom>
          <a:solidFill>
            <a:srgbClr val="C96744"/>
          </a:solidFill>
          <a:ln w="12700">
            <a:solidFill>
              <a:srgbClr val="C9674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502920" y="2615184"/>
            <a:ext cx="8247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一次调用 → 持续运行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02920" y="2962656"/>
            <a:ext cx="8247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 → runs until all requirements complete. No human babysitting.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7472" y="3374136"/>
            <a:ext cx="8449056" cy="749808"/>
          </a:xfrm>
          <a:prstGeom prst="rect">
            <a:avLst/>
          </a:prstGeom>
          <a:solidFill>
            <a:srgbClr val="1A1726"/>
          </a:solidFill>
          <a:ln w="6350">
            <a:solidFill>
              <a:srgbClr val="2A26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6" name="Shape 24"/>
          <p:cNvSpPr/>
          <p:nvPr/>
        </p:nvSpPr>
        <p:spPr>
          <a:xfrm>
            <a:off x="347472" y="3374136"/>
            <a:ext cx="50292" cy="749808"/>
          </a:xfrm>
          <a:prstGeom prst="rect">
            <a:avLst/>
          </a:prstGeom>
          <a:solidFill>
            <a:srgbClr val="D49A38"/>
          </a:solidFill>
          <a:ln w="12700">
            <a:solidFill>
              <a:srgbClr val="D49A3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7" name="Text 25"/>
          <p:cNvSpPr/>
          <p:nvPr/>
        </p:nvSpPr>
        <p:spPr>
          <a:xfrm>
            <a:off x="502920" y="3502152"/>
            <a:ext cx="8247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Symphony (2026.03)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02920" y="3849624"/>
            <a:ext cx="8247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工程师角色从「盯着Agent写代码」转变为「管理需要完成的工作」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role shifts from coding supervisor to work queue manager.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7472" y="4261104"/>
            <a:ext cx="8449056" cy="749808"/>
          </a:xfrm>
          <a:prstGeom prst="rect">
            <a:avLst/>
          </a:prstGeom>
          <a:solidFill>
            <a:srgbClr val="1A1726"/>
          </a:solidFill>
          <a:ln w="6350">
            <a:solidFill>
              <a:srgbClr val="2A26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30" name="Shape 28"/>
          <p:cNvSpPr/>
          <p:nvPr/>
        </p:nvSpPr>
        <p:spPr>
          <a:xfrm>
            <a:off x="347472" y="4261104"/>
            <a:ext cx="50292" cy="749808"/>
          </a:xfrm>
          <a:prstGeom prst="rect">
            <a:avLst/>
          </a:prstGeom>
          <a:solidFill>
            <a:srgbClr val="4FA87A"/>
          </a:solidFill>
          <a:ln w="12700">
            <a:solidFill>
              <a:srgbClr val="4FA87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1" name="Text 29"/>
          <p:cNvSpPr/>
          <p:nvPr/>
        </p:nvSpPr>
        <p:spPr>
          <a:xfrm>
            <a:off x="502920" y="4389120"/>
            <a:ext cx="8247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REA (2026.03)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02920" y="4736592"/>
            <a:ext cx="8247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全自主ML生命周期：自动生成假设→启动训练→调试失败→迭代结果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autonomous ML lifecycle — hypothesis → train → debug → iterate.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96744"/>
          </a:solidFill>
          <a:ln w="12700">
            <a:solidFill>
              <a:srgbClr val="C9674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0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终极信号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AI开始训练AI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"Vibe Training"  — Andrej Karpathy, 2026.03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8229600" cy="868680"/>
          </a:xfrm>
          <a:prstGeom prst="rect">
            <a:avLst/>
          </a:prstGeom>
          <a:solidFill>
            <a:srgbClr val="1A1726"/>
          </a:solidFill>
          <a:ln w="6350">
            <a:solidFill>
              <a:srgbClr val="2A26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50292" cy="868680"/>
          </a:xfrm>
          <a:prstGeom prst="rect">
            <a:avLst/>
          </a:prstGeom>
          <a:solidFill>
            <a:srgbClr val="C96744"/>
          </a:solidFill>
          <a:ln w="12700">
            <a:solidFill>
              <a:srgbClr val="C9674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658368" y="2002536"/>
            <a:ext cx="8028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Karpathy autoresearch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8368" y="2350008"/>
            <a:ext cx="80284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给Agent一套LLM训练环境 → 过夜自主实验迭代 → 人类只需定义研究方向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runs overnight LLM training experiments autonomously. Humans define direction only.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880360"/>
            <a:ext cx="8229600" cy="868680"/>
          </a:xfrm>
          <a:prstGeom prst="rect">
            <a:avLst/>
          </a:prstGeom>
          <a:solidFill>
            <a:srgbClr val="1A1726"/>
          </a:solidFill>
          <a:ln w="6350">
            <a:solidFill>
              <a:srgbClr val="2A26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1" name="Shape 9"/>
          <p:cNvSpPr/>
          <p:nvPr/>
        </p:nvSpPr>
        <p:spPr>
          <a:xfrm>
            <a:off x="502920" y="2880360"/>
            <a:ext cx="50292" cy="868680"/>
          </a:xfrm>
          <a:prstGeom prst="rect">
            <a:avLst/>
          </a:prstGeom>
          <a:solidFill>
            <a:srgbClr val="C96744"/>
          </a:solidFill>
          <a:ln w="12700">
            <a:solidFill>
              <a:srgbClr val="C9674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658368" y="3008376"/>
            <a:ext cx="8028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DGM-H (2026.03)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8368" y="3355848"/>
            <a:ext cx="80284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AI不仅优化任务执行，还能改进「自我改进程序」本身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improves its own self-improvement program — meta-optimization.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886200"/>
            <a:ext cx="8229600" cy="868680"/>
          </a:xfrm>
          <a:prstGeom prst="rect">
            <a:avLst/>
          </a:prstGeom>
          <a:solidFill>
            <a:srgbClr val="1A1726"/>
          </a:solidFill>
          <a:ln w="6350">
            <a:solidFill>
              <a:srgbClr val="2A26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502920" y="3886200"/>
            <a:ext cx="50292" cy="868680"/>
          </a:xfrm>
          <a:prstGeom prst="rect">
            <a:avLst/>
          </a:prstGeom>
          <a:solidFill>
            <a:srgbClr val="C96744"/>
          </a:solidFill>
          <a:ln w="12700">
            <a:solidFill>
              <a:srgbClr val="C9674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658368" y="4014216"/>
            <a:ext cx="8028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GPT-5.3 Codex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8368" y="4361688"/>
            <a:ext cx="80284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首个在自身创建过程中发挥关键作用的模型。递归自我提升循环可能12个月内上线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model that played a key role in creating itself.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9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AI研发速度将被AI本身加速。行业演进速度可能再次量级跃升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7A779A"/>
          </a:solidFill>
          <a:ln w="12700">
            <a:solidFill>
              <a:srgbClr val="7A77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0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小结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技术的临界点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has crossed from tool → collaborator → employee → potential employer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8229600" cy="658368"/>
          </a:xfrm>
          <a:prstGeom prst="rect">
            <a:avLst/>
          </a:prstGeom>
          <a:solidFill>
            <a:srgbClr val="1A1726"/>
          </a:solidFill>
          <a:ln w="5080">
            <a:solidFill>
              <a:srgbClr val="2A26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502919" y="1508760"/>
            <a:ext cx="94182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①→⑥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444752" y="1618488"/>
            <a:ext cx="0" cy="438912"/>
          </a:xfrm>
          <a:prstGeom prst="line">
            <a:avLst/>
          </a:prstGeom>
          <a:noFill/>
          <a:ln w="635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1572768" y="1618488"/>
            <a:ext cx="699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界面战争已到第六阶段：人类退居审核位置 / Humans become reviewers, not operators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313432"/>
            <a:ext cx="8229600" cy="658368"/>
          </a:xfrm>
          <a:prstGeom prst="rect">
            <a:avLst/>
          </a:prstGeom>
          <a:solidFill>
            <a:srgbClr val="1A1726"/>
          </a:solidFill>
          <a:ln w="5080">
            <a:solidFill>
              <a:srgbClr val="2A26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594360" y="2313432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▶▶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444752" y="2423160"/>
            <a:ext cx="0" cy="438912"/>
          </a:xfrm>
          <a:prstGeom prst="line">
            <a:avLst/>
          </a:prstGeom>
          <a:noFill/>
          <a:ln w="635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1572768" y="2423160"/>
            <a:ext cx="699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目标驱动取代嵌入逻辑 / Goal-driven replaces embedded logic — MCP as standard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118104"/>
            <a:ext cx="8229600" cy="658368"/>
          </a:xfrm>
          <a:prstGeom prst="rect">
            <a:avLst/>
          </a:prstGeom>
          <a:solidFill>
            <a:srgbClr val="1A1726"/>
          </a:solidFill>
          <a:ln w="5080">
            <a:solidFill>
              <a:srgbClr val="2A26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594360" y="3118104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444752" y="3227832"/>
            <a:ext cx="0" cy="438912"/>
          </a:xfrm>
          <a:prstGeom prst="line">
            <a:avLst/>
          </a:prstGeom>
          <a:noFill/>
          <a:ln w="635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1572768" y="3227832"/>
            <a:ext cx="699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AI开始自主训练更小的AI / Recursive self-improvement loop approaching production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3922776"/>
            <a:ext cx="8229600" cy="658368"/>
          </a:xfrm>
          <a:prstGeom prst="rect">
            <a:avLst/>
          </a:prstGeom>
          <a:solidFill>
            <a:srgbClr val="1A1726"/>
          </a:solidFill>
          <a:ln w="5080">
            <a:solidFill>
              <a:srgbClr val="2A26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594360" y="3922776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↑↑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444752" y="4032504"/>
            <a:ext cx="0" cy="438912"/>
          </a:xfrm>
          <a:prstGeom prst="line">
            <a:avLst/>
          </a:prstGeom>
          <a:noFill/>
          <a:ln w="635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1572768" y="4032504"/>
            <a:ext cx="6995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行业Benchmark是真正的采纳率信号 / Industry benchmarks = real-world adoption signals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2286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b="1" dirty="0">
                <a:solidFill>
                  <a:srgbClr val="231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2377440" y="1463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/  INDUSTRY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377440" y="187452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2377440" y="31089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middle collapses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D49A38"/>
          </a:solidFill>
          <a:ln w="12700">
            <a:solidFill>
              <a:srgbClr val="D49A3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0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行业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谁是「中间层」？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the Middle Layer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0" y="1371600"/>
            <a:ext cx="5029200" cy="685800"/>
          </a:xfrm>
          <a:prstGeom prst="rect">
            <a:avLst/>
          </a:prstGeom>
          <a:solidFill>
            <a:srgbClr val="231F32"/>
          </a:solidFill>
          <a:ln w="12700">
            <a:solidFill>
              <a:srgbClr val="4FA87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2286000" y="13716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A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 / 终端价值  (End Customer)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0" y="2148840"/>
            <a:ext cx="5943600" cy="1417320"/>
          </a:xfrm>
          <a:prstGeom prst="rect">
            <a:avLst/>
          </a:prstGeom>
          <a:solidFill>
            <a:srgbClr val="2D2510"/>
          </a:solidFill>
          <a:ln w="19050">
            <a:solidFill>
              <a:srgbClr val="D49A3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1828800" y="2176272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9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中间层 / Middle 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257860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SaaS软件  ·  IT集成商  ·  专业服务  ·  传统咨询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800" y="292608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存在原因：直接技术解决方案门槛太高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to exist: direct tech was too hard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280160" y="3657600"/>
            <a:ext cx="7040880" cy="685800"/>
          </a:xfrm>
          <a:prstGeom prst="rect">
            <a:avLst/>
          </a:prstGeom>
          <a:solidFill>
            <a:srgbClr val="231F32"/>
          </a:solidFill>
          <a:ln w="10160">
            <a:solidFill>
              <a:srgbClr val="7A77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1280160" y="365760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企业核心业务 / Core Business Logic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44805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当AI让技术门槛趋近于零 → 中间人的价值趋近于零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makes tech trivial → middlemen become redundant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D49A38"/>
          </a:solidFill>
          <a:ln w="12700">
            <a:solidFill>
              <a:srgbClr val="D49A3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0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价值转移的速度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Anthropic：B2B软件史上最快增长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Software Fastest-Ever ARR Growth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508760"/>
          <a:ext cx="50292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623560" y="1508760"/>
            <a:ext cx="3017520" cy="1234440"/>
          </a:xfrm>
          <a:prstGeom prst="rect">
            <a:avLst/>
          </a:prstGeom>
          <a:solidFill>
            <a:srgbClr val="1A1726"/>
          </a:solidFill>
          <a:ln w="6350">
            <a:solidFill>
              <a:srgbClr val="2A2640"/>
            </a:solidFill>
            <a:prstDash val="solid"/>
          </a:ln>
          <a:effectLst>
            <a:outerShdw blurRad="1778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8" name="Text 5"/>
          <p:cNvSpPr/>
          <p:nvPr/>
        </p:nvSpPr>
        <p:spPr>
          <a:xfrm>
            <a:off x="5623560" y="167335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5623560" y="2377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每年增长倍数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 Multiple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23560" y="2852928"/>
            <a:ext cx="3017520" cy="1234440"/>
          </a:xfrm>
          <a:prstGeom prst="rect">
            <a:avLst/>
          </a:prstGeom>
          <a:solidFill>
            <a:srgbClr val="1A1726"/>
          </a:solidFill>
          <a:ln w="6350">
            <a:solidFill>
              <a:srgbClr val="2A2640"/>
            </a:solidFill>
            <a:prstDash val="solid"/>
          </a:ln>
          <a:effectLst>
            <a:outerShdw blurRad="1778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1" name="Text 8"/>
          <p:cNvSpPr/>
          <p:nvPr/>
        </p:nvSpPr>
        <p:spPr>
          <a:xfrm>
            <a:off x="5623560" y="30175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$19B+</a:t>
            </a:r>
            <a:endParaRPr lang="en-US" sz="4200" dirty="0"/>
          </a:p>
        </p:txBody>
      </p:sp>
      <p:sp>
        <p:nvSpPr>
          <p:cNvPr id="12" name="Text 9"/>
          <p:cNvSpPr/>
          <p:nvPr/>
        </p:nvSpPr>
        <p:spPr>
          <a:xfrm>
            <a:off x="5623560" y="372160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2026初 Run-Rate ARR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2026 Run-Rate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5760" y="469087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$1B → $14B 仅用14个月，打破所有已知B2B软件纪录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i="1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$1B → $14B in just 14 months — breaks every known B2B software record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D45050"/>
          </a:solidFill>
          <a:ln w="12700">
            <a:solidFill>
              <a:srgbClr val="D4505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0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SaaSpocalypse  ·  2026.02.03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SaaSpocalypse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Cowork发布当日，科技史最大单日市值蒸发之一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2743200" cy="1508760"/>
          </a:xfrm>
          <a:prstGeom prst="rect">
            <a:avLst/>
          </a:prstGeom>
          <a:solidFill>
            <a:srgbClr val="1A1726"/>
          </a:solidFill>
          <a:ln w="6350">
            <a:solidFill>
              <a:srgbClr val="2A2640"/>
            </a:solidFill>
            <a:prstDash val="solid"/>
          </a:ln>
          <a:effectLst>
            <a:outerShdw blurRad="1778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457200" y="203911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$285B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单日蒸发市值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 Evaporated (1 day)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874520"/>
            <a:ext cx="2651760" cy="1508760"/>
          </a:xfrm>
          <a:prstGeom prst="rect">
            <a:avLst/>
          </a:prstGeom>
          <a:solidFill>
            <a:srgbClr val="1A1726"/>
          </a:solidFill>
          <a:ln w="6350">
            <a:solidFill>
              <a:srgbClr val="2A2640"/>
            </a:solidFill>
            <a:prstDash val="solid"/>
          </a:ln>
          <a:effectLst>
            <a:outerShdw blurRad="1778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0" name="Text 8"/>
          <p:cNvSpPr/>
          <p:nvPr/>
        </p:nvSpPr>
        <p:spPr>
          <a:xfrm>
            <a:off x="3337560" y="203911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D4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-15.8%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337560" y="27432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Thomson Reuters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当日跌幅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1874520"/>
            <a:ext cx="2606040" cy="1508760"/>
          </a:xfrm>
          <a:prstGeom prst="rect">
            <a:avLst/>
          </a:prstGeom>
          <a:solidFill>
            <a:srgbClr val="1A1726"/>
          </a:solidFill>
          <a:ln w="6350">
            <a:solidFill>
              <a:srgbClr val="2A2640"/>
            </a:solidFill>
            <a:prstDash val="solid"/>
          </a:ln>
          <a:effectLst>
            <a:outerShdw blurRad="1778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6080760" y="203911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D4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-19.7%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6080760" y="27432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LegalZoom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当日跌幅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8321040" cy="1051560"/>
          </a:xfrm>
          <a:prstGeom prst="rect">
            <a:avLst/>
          </a:prstGeom>
          <a:solidFill>
            <a:srgbClr val="1A1726"/>
          </a:solidFill>
          <a:ln w="635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594360" y="358444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本质不是股市情绪波动，而是市场对商业模式被摧毁的定价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market sentiment — the market is pricing in a business model collapse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436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"Death by a thousand plugins"  — Wall Street analyst, Feb 2026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D49A38"/>
          </a:solidFill>
          <a:ln w="12700">
            <a:solidFill>
              <a:srgbClr val="D49A3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0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商业模式革命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 →  Result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计费方式的根本颠覆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794760" cy="3200400"/>
          </a:xfrm>
          <a:prstGeom prst="rect">
            <a:avLst/>
          </a:prstGeom>
          <a:solidFill>
            <a:srgbClr val="1A1726"/>
          </a:solidFill>
          <a:ln w="10160">
            <a:solidFill>
              <a:srgbClr val="7A77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MODEL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按席位计费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" y="2176272"/>
            <a:ext cx="3474720" cy="384048"/>
          </a:xfrm>
          <a:prstGeom prst="rect">
            <a:avLst/>
          </a:prstGeom>
          <a:solidFill>
            <a:srgbClr val="231F32"/>
          </a:solidFill>
          <a:ln w="381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713232" y="221284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每个用户支付固定订阅费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" y="2633472"/>
            <a:ext cx="3474720" cy="384048"/>
          </a:xfrm>
          <a:prstGeom prst="rect">
            <a:avLst/>
          </a:prstGeom>
          <a:solidFill>
            <a:srgbClr val="231F32"/>
          </a:solidFill>
          <a:ln w="381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Text 8"/>
          <p:cNvSpPr/>
          <p:nvPr/>
        </p:nvSpPr>
        <p:spPr>
          <a:xfrm>
            <a:off x="713232" y="267004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使用量与付费无关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" y="3090672"/>
            <a:ext cx="3474720" cy="384048"/>
          </a:xfrm>
          <a:prstGeom prst="rect">
            <a:avLst/>
          </a:prstGeom>
          <a:solidFill>
            <a:srgbClr val="231F32"/>
          </a:solidFill>
          <a:ln w="381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713232" y="312724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销售周期按企业规模定价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" y="3547872"/>
            <a:ext cx="3474720" cy="384048"/>
          </a:xfrm>
          <a:prstGeom prst="rect">
            <a:avLst/>
          </a:prstGeom>
          <a:solidFill>
            <a:srgbClr val="231F32"/>
          </a:solidFill>
          <a:ln w="381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Text 12"/>
          <p:cNvSpPr/>
          <p:nvPr/>
        </p:nvSpPr>
        <p:spPr>
          <a:xfrm>
            <a:off x="713232" y="358444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客户少用=供应商更赚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" y="4005072"/>
            <a:ext cx="3474720" cy="384048"/>
          </a:xfrm>
          <a:prstGeom prst="rect">
            <a:avLst/>
          </a:prstGeom>
          <a:solidFill>
            <a:srgbClr val="231F32"/>
          </a:solidFill>
          <a:ln w="381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713232" y="404164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AI采用→席位减少→收入下滑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07408" y="26974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074920" y="1417320"/>
            <a:ext cx="3657600" cy="3200400"/>
          </a:xfrm>
          <a:prstGeom prst="rect">
            <a:avLst/>
          </a:prstGeom>
          <a:solidFill>
            <a:srgbClr val="1A1726"/>
          </a:solidFill>
          <a:ln w="15240">
            <a:solidFill>
              <a:srgbClr val="C9674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" name="Shape 17"/>
          <p:cNvSpPr/>
          <p:nvPr/>
        </p:nvSpPr>
        <p:spPr>
          <a:xfrm>
            <a:off x="5074920" y="1417320"/>
            <a:ext cx="3657600" cy="64008"/>
          </a:xfrm>
          <a:prstGeom prst="rect">
            <a:avLst/>
          </a:prstGeom>
          <a:solidFill>
            <a:srgbClr val="C96744"/>
          </a:solidFill>
          <a:ln w="12700">
            <a:solidFill>
              <a:srgbClr val="C9674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5074920" y="148132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MODEL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按结果计费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230368" y="2176272"/>
            <a:ext cx="3337560" cy="384048"/>
          </a:xfrm>
          <a:prstGeom prst="rect">
            <a:avLst/>
          </a:prstGeom>
          <a:solidFill>
            <a:srgbClr val="231F32"/>
          </a:solidFill>
          <a:ln w="381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" name="Text 20"/>
          <p:cNvSpPr/>
          <p:nvPr/>
        </p:nvSpPr>
        <p:spPr>
          <a:xfrm>
            <a:off x="5321808" y="2212848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按完成任务数量付费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230368" y="2633472"/>
            <a:ext cx="3337560" cy="384048"/>
          </a:xfrm>
          <a:prstGeom prst="rect">
            <a:avLst/>
          </a:prstGeom>
          <a:solidFill>
            <a:srgbClr val="231F32"/>
          </a:solidFill>
          <a:ln w="381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4" name="Text 22"/>
          <p:cNvSpPr/>
          <p:nvPr/>
        </p:nvSpPr>
        <p:spPr>
          <a:xfrm>
            <a:off x="5321808" y="2670048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AI完成率越高，付费越多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230368" y="3090672"/>
            <a:ext cx="3337560" cy="384048"/>
          </a:xfrm>
          <a:prstGeom prst="rect">
            <a:avLst/>
          </a:prstGeom>
          <a:solidFill>
            <a:srgbClr val="231F32"/>
          </a:solidFill>
          <a:ln w="381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6" name="Text 24"/>
          <p:cNvSpPr/>
          <p:nvPr/>
        </p:nvSpPr>
        <p:spPr>
          <a:xfrm>
            <a:off x="5321808" y="3127248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定价与业务价值直接挂钩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230368" y="3547872"/>
            <a:ext cx="3337560" cy="384048"/>
          </a:xfrm>
          <a:prstGeom prst="rect">
            <a:avLst/>
          </a:prstGeom>
          <a:solidFill>
            <a:srgbClr val="231F32"/>
          </a:solidFill>
          <a:ln w="381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8" name="Text 26"/>
          <p:cNvSpPr/>
          <p:nvPr/>
        </p:nvSpPr>
        <p:spPr>
          <a:xfrm>
            <a:off x="5321808" y="3584448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客户多用=供应商更赚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230368" y="4005072"/>
            <a:ext cx="3337560" cy="384048"/>
          </a:xfrm>
          <a:prstGeom prst="rect">
            <a:avLst/>
          </a:prstGeom>
          <a:solidFill>
            <a:srgbClr val="231F32"/>
          </a:solidFill>
          <a:ln w="381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0" name="Text 28"/>
          <p:cNvSpPr/>
          <p:nvPr/>
        </p:nvSpPr>
        <p:spPr>
          <a:xfrm>
            <a:off x="5321808" y="4041648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AI时代原生的商业逻辑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7548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49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Salesforce年内累计 -26% · 正在痛苦转型中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D45050"/>
          </a:solidFill>
          <a:ln w="12700">
            <a:solidFill>
              <a:srgbClr val="D4505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0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护城河的幻觉  ·  2026.02.23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COBOL事件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护城河不是技术，是迁移成本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1463040"/>
          </a:xfrm>
          <a:prstGeom prst="rect">
            <a:avLst/>
          </a:prstGeom>
          <a:solidFill>
            <a:srgbClr val="1A1726"/>
          </a:solidFill>
          <a:ln w="6350">
            <a:solidFill>
              <a:srgbClr val="2A2640"/>
            </a:solidFill>
            <a:prstDash val="solid"/>
          </a:ln>
          <a:effectLst>
            <a:outerShdw blurRad="1778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457200" y="158191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D4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-13.2%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IBM单日跌幅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25年最大单日跌幅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417320"/>
            <a:ext cx="2651760" cy="1463040"/>
          </a:xfrm>
          <a:prstGeom prst="rect">
            <a:avLst/>
          </a:prstGeom>
          <a:solidFill>
            <a:srgbClr val="1A1726"/>
          </a:solidFill>
          <a:ln w="6350">
            <a:solidFill>
              <a:srgbClr val="2A2640"/>
            </a:solidFill>
            <a:prstDash val="solid"/>
          </a:ln>
          <a:effectLst>
            <a:outerShdw blurRad="1778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3246120" y="158191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D49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$31B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246120" y="2286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单日蒸发市值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市值蒸发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89320" y="1417320"/>
            <a:ext cx="2697480" cy="1463040"/>
          </a:xfrm>
          <a:prstGeom prst="rect">
            <a:avLst/>
          </a:prstGeom>
          <a:solidFill>
            <a:srgbClr val="1A1726"/>
          </a:solidFill>
          <a:ln w="6350">
            <a:solidFill>
              <a:srgbClr val="2A2640"/>
            </a:solidFill>
            <a:prstDash val="solid"/>
          </a:ln>
          <a:effectLst>
            <a:outerShdw blurRad="1778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5989320" y="1581912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2500亿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5989320" y="22860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全球COBOL代码行数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COBOL globally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8321040" cy="1828800"/>
          </a:xfrm>
          <a:prstGeom prst="rect">
            <a:avLst/>
          </a:prstGeom>
          <a:solidFill>
            <a:srgbClr val="1A1726"/>
          </a:solidFill>
          <a:ln w="635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621792" y="310896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IBM护城河的本质解析 / The IBM Moat Decoded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" y="35661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IBM的护城河 (实际上):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06240" y="356616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迁移成本：几年时间 + 几亿预算 + 巨大风险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" y="38862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Claude Code做到了什么: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06240" y="38862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将COBOL迁移成本从「几年+几亿」→「几小时+几千美元」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" y="42062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市场定价的是什么: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06240" y="420624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护城河被拆除。IBM的商业模式地基坍塌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D45050"/>
          </a:solidFill>
          <a:ln w="12700">
            <a:solidFill>
              <a:srgbClr val="D4505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0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结构性压缩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两周，两次崩塌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这不是市场情绪，是结构性必然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321040" cy="1325880"/>
          </a:xfrm>
          <a:prstGeom prst="rect">
            <a:avLst/>
          </a:prstGeom>
          <a:solidFill>
            <a:srgbClr val="1A1726"/>
          </a:solidFill>
          <a:ln w="10160">
            <a:solidFill>
              <a:srgbClr val="D45050"/>
            </a:solidFill>
            <a:prstDash val="solid"/>
          </a:ln>
          <a:effectLst>
            <a:outerShdw blurRad="1778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621792" y="14813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2026.02.03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1828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SaaSpocalypse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0" y="162763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4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$285B 蒸发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21792" y="230428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AI直接交付业务结果，按席位模式死亡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8321040" cy="1325880"/>
          </a:xfrm>
          <a:prstGeom prst="rect">
            <a:avLst/>
          </a:prstGeom>
          <a:solidFill>
            <a:srgbClr val="1A1726"/>
          </a:solidFill>
          <a:ln w="10160">
            <a:solidFill>
              <a:srgbClr val="D49A38"/>
            </a:solidFill>
            <a:prstDash val="solid"/>
          </a:ln>
          <a:effectLst>
            <a:outerShdw blurRad="1778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621792" y="29900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9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2026.02.23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" y="3337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COBOL事件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0" y="313639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49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$31B 蒸发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1792" y="381304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AI消灭迁移成本，维护护城河坍塌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462272"/>
            <a:ext cx="8321040" cy="502920"/>
          </a:xfrm>
          <a:prstGeom prst="rect">
            <a:avLst/>
          </a:prstGeom>
          <a:solidFill>
            <a:srgbClr val="231F32"/>
          </a:solidFill>
          <a:ln w="635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621792" y="449884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08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a16z (2026.03): "软件公司只剩两条路：成为AI-native核心，或被Agent直接绕过。中间道路已经消失。"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D49A38"/>
          </a:solidFill>
          <a:ln w="12700">
            <a:solidFill>
              <a:srgbClr val="D49A3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0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企业护城河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中间层消失后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什么是真正的护城河？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321040" cy="960120"/>
          </a:xfrm>
          <a:prstGeom prst="rect">
            <a:avLst/>
          </a:prstGeom>
          <a:solidFill>
            <a:srgbClr val="1A1726"/>
          </a:solidFill>
          <a:ln w="6350">
            <a:solidFill>
              <a:srgbClr val="2A26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4864" cy="960120"/>
          </a:xfrm>
          <a:prstGeom prst="rect">
            <a:avLst/>
          </a:prstGeom>
          <a:solidFill>
            <a:srgbClr val="C96744"/>
          </a:solidFill>
          <a:ln w="12700">
            <a:solidFill>
              <a:srgbClr val="C9674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594360" y="149047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1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15087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核心人 / Core IP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191109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不可复制的判断力与关系网络。Anthropic雇佣哲学家写宪法——专家知识的价值不在执行，在定义标准。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Irreplacement judgment &amp; relationships. Experts define standards, not just execute.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32888"/>
            <a:ext cx="8321040" cy="960120"/>
          </a:xfrm>
          <a:prstGeom prst="rect">
            <a:avLst/>
          </a:prstGeom>
          <a:solidFill>
            <a:srgbClr val="1A1726"/>
          </a:solidFill>
          <a:ln w="6350">
            <a:solidFill>
              <a:srgbClr val="2A26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1" name="Shape 9"/>
          <p:cNvSpPr/>
          <p:nvPr/>
        </p:nvSpPr>
        <p:spPr>
          <a:xfrm>
            <a:off x="457200" y="2532888"/>
            <a:ext cx="54864" cy="960120"/>
          </a:xfrm>
          <a:prstGeom prst="rect">
            <a:avLst/>
          </a:prstGeom>
          <a:solidFill>
            <a:srgbClr val="D49A38"/>
          </a:solidFill>
          <a:ln w="12700">
            <a:solidFill>
              <a:srgbClr val="D49A3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594360" y="26060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1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25880" y="26243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排他数据 / Exclusive Data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5880" y="302666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AI无法在公开数据集中获取的私有数据源。植物大模型、私有金融数据、用户行为私有库——数据越稀缺，壁垒越高。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AI can't get elsewhere. Rare proprietary data = lasting moat.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648456"/>
            <a:ext cx="8321040" cy="960120"/>
          </a:xfrm>
          <a:prstGeom prst="rect">
            <a:avLst/>
          </a:prstGeom>
          <a:solidFill>
            <a:srgbClr val="1A1726"/>
          </a:solidFill>
          <a:ln w="6350">
            <a:solidFill>
              <a:srgbClr val="2A26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6" name="Shape 14"/>
          <p:cNvSpPr/>
          <p:nvPr/>
        </p:nvSpPr>
        <p:spPr>
          <a:xfrm>
            <a:off x="457200" y="3648456"/>
            <a:ext cx="54864" cy="960120"/>
          </a:xfrm>
          <a:prstGeom prst="rect">
            <a:avLst/>
          </a:prstGeom>
          <a:solidFill>
            <a:srgbClr val="4FA87A"/>
          </a:solidFill>
          <a:ln w="12700">
            <a:solidFill>
              <a:srgbClr val="4FA87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594360" y="372160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1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25880" y="373989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关键节点 / Critical Nodes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5880" y="414223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超高SLA、高代价失误的复杂工作流。不是AI做不了，是出错成本太高。核电站控制系统、实时清算、医疗审批。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that AI can't do it — the cost of failure is too high.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7731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4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反面教材：向乙方要解决方案 = 思维僵化 + 动作迟缓 + 费效比极低 = 慢性自杀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7A779A"/>
          </a:solidFill>
          <a:ln w="12700">
            <a:solidFill>
              <a:srgbClr val="7A77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0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小结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行业的新规则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321040" cy="749808"/>
          </a:xfrm>
          <a:prstGeom prst="rect">
            <a:avLst/>
          </a:prstGeom>
          <a:solidFill>
            <a:srgbClr val="1A1726"/>
          </a:solidFill>
          <a:ln w="5080">
            <a:solidFill>
              <a:srgbClr val="2A26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" cy="749808"/>
          </a:xfrm>
          <a:prstGeom prst="rect">
            <a:avLst/>
          </a:prstGeom>
          <a:solidFill>
            <a:srgbClr val="D45050"/>
          </a:solidFill>
          <a:ln w="12700">
            <a:solidFill>
              <a:srgbClr val="D4505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594360" y="128016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135331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中间层正在结构性消亡：技术门槛归零，中间人的存在理由消失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325880" y="168249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layer structurally dying — tech barriers gone = middlemen redundant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76272"/>
            <a:ext cx="8321040" cy="749808"/>
          </a:xfrm>
          <a:prstGeom prst="rect">
            <a:avLst/>
          </a:prstGeom>
          <a:solidFill>
            <a:srgbClr val="1A1726"/>
          </a:solidFill>
          <a:ln w="5080">
            <a:solidFill>
              <a:srgbClr val="2A26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1" name="Shape 9"/>
          <p:cNvSpPr/>
          <p:nvPr/>
        </p:nvSpPr>
        <p:spPr>
          <a:xfrm>
            <a:off x="457200" y="2176272"/>
            <a:ext cx="54864" cy="749808"/>
          </a:xfrm>
          <a:prstGeom prst="rect">
            <a:avLst/>
          </a:prstGeom>
          <a:solidFill>
            <a:srgbClr val="D49A38"/>
          </a:solidFill>
          <a:ln w="12700">
            <a:solidFill>
              <a:srgbClr val="D49A3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594360" y="2176272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9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" y="224942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两周蒸发$316B：不是恐慌，是市场在定价新规则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325880" y="2578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$316B evaporated in two weeks — markets pricing in the new rules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72384"/>
            <a:ext cx="8321040" cy="749808"/>
          </a:xfrm>
          <a:prstGeom prst="rect">
            <a:avLst/>
          </a:prstGeom>
          <a:solidFill>
            <a:srgbClr val="1A1726"/>
          </a:solidFill>
          <a:ln w="5080">
            <a:solidFill>
              <a:srgbClr val="2A26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6" name="Shape 14"/>
          <p:cNvSpPr/>
          <p:nvPr/>
        </p:nvSpPr>
        <p:spPr>
          <a:xfrm>
            <a:off x="457200" y="3072384"/>
            <a:ext cx="54864" cy="749808"/>
          </a:xfrm>
          <a:prstGeom prst="rect">
            <a:avLst/>
          </a:prstGeom>
          <a:solidFill>
            <a:srgbClr val="C96744"/>
          </a:solidFill>
          <a:ln w="12700">
            <a:solidFill>
              <a:srgbClr val="C9674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594360" y="3072384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25880" y="314553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护城河只剩三样：核心人 · 排他数据 · 关键节点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25880" y="34747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three moats remain: IP people · exclusive data · critical nodes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968496"/>
            <a:ext cx="8321040" cy="749808"/>
          </a:xfrm>
          <a:prstGeom prst="rect">
            <a:avLst/>
          </a:prstGeom>
          <a:solidFill>
            <a:srgbClr val="1A1726"/>
          </a:solidFill>
          <a:ln w="5080">
            <a:solidFill>
              <a:srgbClr val="2A26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1" name="Shape 19"/>
          <p:cNvSpPr/>
          <p:nvPr/>
        </p:nvSpPr>
        <p:spPr>
          <a:xfrm>
            <a:off x="457200" y="3968496"/>
            <a:ext cx="54864" cy="749808"/>
          </a:xfrm>
          <a:prstGeom prst="rect">
            <a:avLst/>
          </a:prstGeom>
          <a:solidFill>
            <a:srgbClr val="4FA87A"/>
          </a:solidFill>
          <a:ln w="12700">
            <a:solidFill>
              <a:srgbClr val="4FA87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" name="Text 20"/>
          <p:cNvSpPr/>
          <p:nvPr/>
        </p:nvSpPr>
        <p:spPr>
          <a:xfrm>
            <a:off x="594360" y="3968496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FA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25880" y="40416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预告：Scalable的行业是桶，不Scalable的行业是棍子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325880" y="43708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Preview: Scalable industries = bucket; non-scalable = stick — more at the end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2286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b="1" dirty="0">
                <a:solidFill>
                  <a:srgbClr val="231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2377440" y="1463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/  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377440" y="187452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2377440" y="31089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labor stops defining value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FA87A"/>
          </a:solidFill>
          <a:ln w="12700">
            <a:solidFill>
              <a:srgbClr val="4FA87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0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中间层消失的前提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管理效率跃升</a:t>
            </a:r>
            <a:endParaRPr lang="en-US" sz="30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3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才让中间层消失成为可能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efficiency ↑ → Middle layer collapse becomes possible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8321040" cy="960120"/>
          </a:xfrm>
          <a:prstGeom prst="rect">
            <a:avLst/>
          </a:prstGeom>
          <a:solidFill>
            <a:srgbClr val="1A1726"/>
          </a:solidFill>
          <a:ln w="6350">
            <a:solidFill>
              <a:srgbClr val="2A26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50292" cy="960120"/>
          </a:xfrm>
          <a:prstGeom prst="rect">
            <a:avLst/>
          </a:prstGeom>
          <a:solidFill>
            <a:srgbClr val="C96744"/>
          </a:solidFill>
          <a:ln w="12700">
            <a:solidFill>
              <a:srgbClr val="C9674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612648" y="1700784"/>
            <a:ext cx="8119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决策层实时感知企业脉搏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12648" y="2048256"/>
            <a:ext cx="81198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扎克伯格专属CEO Agent：快速获取内部数据，代为完成层层汇报。当CEO可以实时感受所有运行数据，中间层信息中继价值归零。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Zuckerberg's CEO Agent makes real-time internal data accessible directly.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688336"/>
            <a:ext cx="8321040" cy="960120"/>
          </a:xfrm>
          <a:prstGeom prst="rect">
            <a:avLst/>
          </a:prstGeom>
          <a:solidFill>
            <a:srgbClr val="1A1726"/>
          </a:solidFill>
          <a:ln w="6350">
            <a:solidFill>
              <a:srgbClr val="2A26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1" name="Shape 9"/>
          <p:cNvSpPr/>
          <p:nvPr/>
        </p:nvSpPr>
        <p:spPr>
          <a:xfrm>
            <a:off x="457200" y="2688336"/>
            <a:ext cx="50292" cy="960120"/>
          </a:xfrm>
          <a:prstGeom prst="rect">
            <a:avLst/>
          </a:prstGeom>
          <a:solidFill>
            <a:srgbClr val="4FA87A"/>
          </a:solidFill>
          <a:ln w="12700">
            <a:solidFill>
              <a:srgbClr val="4FA87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612648" y="2816352"/>
            <a:ext cx="8119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管理效率工具让一人管更大组织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2648" y="3163824"/>
            <a:ext cx="81198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会议总结、周报、运营数据可视化——</a:t>
            </a:r>
            <a:r>
              <a:rPr lang="en-US" sz="1150" dirty="0" err="1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上级了解基层不再需要中间人传递，管理跨度可以大幅扩展</a:t>
            </a:r>
            <a:r>
              <a:rPr lang="en-US" sz="115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summaries, reports, real-time ops data — span of control multiplies.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803904"/>
            <a:ext cx="8321040" cy="960120"/>
          </a:xfrm>
          <a:prstGeom prst="rect">
            <a:avLst/>
          </a:prstGeom>
          <a:solidFill>
            <a:srgbClr val="1A1726"/>
          </a:solidFill>
          <a:ln w="6350">
            <a:solidFill>
              <a:srgbClr val="2A26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457200" y="3803904"/>
            <a:ext cx="50292" cy="960120"/>
          </a:xfrm>
          <a:prstGeom prst="rect">
            <a:avLst/>
          </a:prstGeom>
          <a:solidFill>
            <a:srgbClr val="D49A38"/>
          </a:solidFill>
          <a:ln w="12700">
            <a:solidFill>
              <a:srgbClr val="D49A3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612648" y="3931920"/>
            <a:ext cx="8119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自下而上的信息直达决策层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12648" y="4279392"/>
            <a:ext cx="81198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基层员工可以通过最直接的方式与决策层沟通。自上而下的产品定义让位给自下而上的产品涌现。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information flows directly to decision-makers. Emergence over top-down design.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FA87A"/>
          </a:solidFill>
          <a:ln w="12700">
            <a:solidFill>
              <a:srgbClr val="4FA87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0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基层工作消失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基层工作消失的证据链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Chain</a:t>
            </a:r>
            <a:endParaRPr lang="en-US" sz="3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28016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280160"/>
            <a:ext cx="3108960" cy="1417320"/>
          </a:xfrm>
          <a:prstGeom prst="rect">
            <a:avLst/>
          </a:prstGeom>
          <a:solidFill>
            <a:srgbClr val="1A1726"/>
          </a:solidFill>
          <a:ln w="6350">
            <a:solidFill>
              <a:srgbClr val="2A2640"/>
            </a:solidFill>
            <a:prstDash val="solid"/>
          </a:ln>
          <a:effectLst>
            <a:outerShdw blurRad="1778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7" name="Text 4"/>
          <p:cNvSpPr/>
          <p:nvPr/>
        </p:nvSpPr>
        <p:spPr>
          <a:xfrm>
            <a:off x="5577840" y="144475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D4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557784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基层白领在5年内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被替代 (Dario, 2025)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577840" y="2834640"/>
            <a:ext cx="3108960" cy="1371600"/>
          </a:xfrm>
          <a:prstGeom prst="rect">
            <a:avLst/>
          </a:prstGeom>
          <a:solidFill>
            <a:srgbClr val="1A1726"/>
          </a:solidFill>
          <a:ln w="6350">
            <a:solidFill>
              <a:srgbClr val="2A2640"/>
            </a:solidFill>
            <a:prstDash val="solid"/>
          </a:ln>
          <a:effectLst>
            <a:outerShdw blurRad="1778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0" name="Text 7"/>
          <p:cNvSpPr/>
          <p:nvPr/>
        </p:nvSpPr>
        <p:spPr>
          <a:xfrm>
            <a:off x="5577840" y="299923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D49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5577840" y="3703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Anthropic用户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完全AI自动化工作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65760" y="46634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差距就是基层程序员（和知识工作者）命运的差距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95% and 10% IS the difference in worker outcomes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005840"/>
            <a:ext cx="64008" cy="2926080"/>
          </a:xfrm>
          <a:prstGeom prst="rect">
            <a:avLst/>
          </a:prstGeom>
          <a:solidFill>
            <a:srgbClr val="C96744"/>
          </a:solidFill>
          <a:ln w="12700">
            <a:solidFill>
              <a:srgbClr val="C9674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7863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"我们作为这项技术的生产者，有义务诚实地说出即将发生的事：</a:t>
            </a:r>
            <a:endParaRPr lang="en-US" sz="2000" dirty="0"/>
          </a:p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未来5年内，50%的基层白领工作将被替代，</a:t>
            </a:r>
            <a:endParaRPr lang="en-US" sz="2000" dirty="0"/>
          </a:p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失业率可能达到10-20%。"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" y="41605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Dario Amodei，Anthropic CEO  ·  Fortune, May 2025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D45050"/>
          </a:solidFill>
          <a:ln w="12700">
            <a:solidFill>
              <a:srgbClr val="D4505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50292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0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最权威的警告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FA87A"/>
          </a:solidFill>
          <a:ln w="12700">
            <a:solidFill>
              <a:srgbClr val="4FA87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0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基层工作者的两条路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升级 or 退出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or Exit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53101"/>
            <a:ext cx="3886200" cy="3246120"/>
          </a:xfrm>
          <a:prstGeom prst="rect">
            <a:avLst/>
          </a:prstGeom>
          <a:solidFill>
            <a:srgbClr val="1A1726"/>
          </a:solidFill>
          <a:ln w="12700">
            <a:solidFill>
              <a:srgbClr val="4FA87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Shape 4"/>
          <p:cNvSpPr/>
          <p:nvPr/>
        </p:nvSpPr>
        <p:spPr>
          <a:xfrm>
            <a:off x="457200" y="1453101"/>
            <a:ext cx="3886200" cy="64008"/>
          </a:xfrm>
          <a:prstGeom prst="rect">
            <a:avLst/>
          </a:prstGeom>
          <a:solidFill>
            <a:srgbClr val="4FA87A"/>
          </a:solidFill>
          <a:ln w="12700">
            <a:solidFill>
              <a:srgbClr val="4FA87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457200" y="1517109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A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A：升级为管理者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2221197"/>
            <a:ext cx="182880" cy="182880"/>
          </a:xfrm>
          <a:prstGeom prst="ellipse">
            <a:avLst/>
          </a:prstGeom>
          <a:solidFill>
            <a:srgbClr val="4FA87A"/>
          </a:solidFill>
          <a:ln w="12700">
            <a:solidFill>
              <a:srgbClr val="4FA87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932688" y="2120613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把部门工作流AI化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8368" y="2696685"/>
            <a:ext cx="182880" cy="182880"/>
          </a:xfrm>
          <a:prstGeom prst="ellipse">
            <a:avLst/>
          </a:prstGeom>
          <a:solidFill>
            <a:srgbClr val="4FA87A"/>
          </a:solidFill>
          <a:ln w="12700">
            <a:solidFill>
              <a:srgbClr val="4FA87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932688" y="2596101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成为自动化设计师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" y="3172173"/>
            <a:ext cx="182880" cy="182880"/>
          </a:xfrm>
          <a:prstGeom prst="ellipse">
            <a:avLst/>
          </a:prstGeom>
          <a:solidFill>
            <a:srgbClr val="4FA87A"/>
          </a:solidFill>
          <a:ln w="12700">
            <a:solidFill>
              <a:srgbClr val="4FA87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Text 11"/>
          <p:cNvSpPr/>
          <p:nvPr/>
        </p:nvSpPr>
        <p:spPr>
          <a:xfrm>
            <a:off x="932688" y="3071589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掌握业务设计能力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3647661"/>
            <a:ext cx="182880" cy="182880"/>
          </a:xfrm>
          <a:prstGeom prst="ellipse">
            <a:avLst/>
          </a:prstGeom>
          <a:solidFill>
            <a:srgbClr val="4FA87A"/>
          </a:solidFill>
          <a:ln w="12700">
            <a:solidFill>
              <a:srgbClr val="4FA87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932688" y="3547077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培养判断力和品味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8368" y="4123149"/>
            <a:ext cx="182880" cy="182880"/>
          </a:xfrm>
          <a:prstGeom prst="ellipse">
            <a:avLst/>
          </a:prstGeom>
          <a:solidFill>
            <a:srgbClr val="4FA87A"/>
          </a:solidFill>
          <a:ln w="12700">
            <a:solidFill>
              <a:srgbClr val="4FA87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932688" y="4022565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为企业创造可扩展价值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800600" y="1453101"/>
            <a:ext cx="3931920" cy="3246120"/>
          </a:xfrm>
          <a:prstGeom prst="rect">
            <a:avLst/>
          </a:prstGeom>
          <a:solidFill>
            <a:srgbClr val="1A1726"/>
          </a:solidFill>
          <a:ln w="10160">
            <a:solidFill>
              <a:srgbClr val="7A77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4800600" y="1517109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B：过渡形态（监督员）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56048" y="2120613"/>
            <a:ext cx="3621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想象一下生产线上的「红袖标」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supervision role — the new assembly line inspector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56048" y="2870421"/>
            <a:ext cx="3621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短期内承载大量基层工作，但本质是过渡形态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bridge role, not a destination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56048" y="3583653"/>
            <a:ext cx="3621024" cy="0"/>
          </a:xfrm>
          <a:prstGeom prst="line">
            <a:avLst/>
          </a:prstGeom>
          <a:noFill/>
          <a:ln w="635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4956048" y="3675093"/>
            <a:ext cx="3621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真正的问题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为什么不说「学会用AI工具」？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因为：要么设计工具，要么被工具替代。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FA87A"/>
          </a:solidFill>
          <a:ln w="12700">
            <a:solidFill>
              <a:srgbClr val="4FA87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0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管理层的新使命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管理层的核心能力三件套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New Core Competencies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321040" cy="1051560"/>
          </a:xfrm>
          <a:prstGeom prst="rect">
            <a:avLst/>
          </a:prstGeom>
          <a:solidFill>
            <a:srgbClr val="1A1726"/>
          </a:solidFill>
          <a:ln w="6350">
            <a:solidFill>
              <a:srgbClr val="2A26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4864" cy="1051560"/>
          </a:xfrm>
          <a:prstGeom prst="rect">
            <a:avLst/>
          </a:prstGeom>
          <a:solidFill>
            <a:srgbClr val="C96744"/>
          </a:solidFill>
          <a:ln w="12700">
            <a:solidFill>
              <a:srgbClr val="C9674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594360" y="14356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 当下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920240" y="139903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自动化设计力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Design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20240" y="1856232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把自己部门的整个工作流设计成AI可驱动的系统。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这是当下最重要的单一技能。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your entire department workflow as an AI-drivable system.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32888"/>
            <a:ext cx="8321040" cy="1051560"/>
          </a:xfrm>
          <a:prstGeom prst="rect">
            <a:avLst/>
          </a:prstGeom>
          <a:solidFill>
            <a:srgbClr val="1A1726"/>
          </a:solidFill>
          <a:ln w="6350">
            <a:solidFill>
              <a:srgbClr val="2A26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1" name="Shape 9"/>
          <p:cNvSpPr/>
          <p:nvPr/>
        </p:nvSpPr>
        <p:spPr>
          <a:xfrm>
            <a:off x="457200" y="2532888"/>
            <a:ext cx="54864" cy="1051560"/>
          </a:xfrm>
          <a:prstGeom prst="rect">
            <a:avLst/>
          </a:prstGeom>
          <a:solidFill>
            <a:srgbClr val="D49A38"/>
          </a:solidFill>
          <a:ln w="12700">
            <a:solidFill>
              <a:srgbClr val="D49A3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594360" y="264261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D49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 中期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920240" y="260604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业务设计力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Architecture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920240" y="306324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设计可Scalable的商业模式，而不是线性堆人力。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桶形业务 vs 棍形业务的选择在这里做。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scalable business models — not linear headcount scaling.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739896"/>
            <a:ext cx="8321040" cy="1051560"/>
          </a:xfrm>
          <a:prstGeom prst="rect">
            <a:avLst/>
          </a:prstGeom>
          <a:solidFill>
            <a:srgbClr val="1A1726"/>
          </a:solidFill>
          <a:ln w="6350">
            <a:solidFill>
              <a:srgbClr val="2A26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6" name="Shape 14"/>
          <p:cNvSpPr/>
          <p:nvPr/>
        </p:nvSpPr>
        <p:spPr>
          <a:xfrm>
            <a:off x="457200" y="3739896"/>
            <a:ext cx="54864" cy="1051560"/>
          </a:xfrm>
          <a:prstGeom prst="rect">
            <a:avLst/>
          </a:prstGeom>
          <a:solidFill>
            <a:srgbClr val="4FA87A"/>
          </a:solidFill>
          <a:ln w="12700">
            <a:solidFill>
              <a:srgbClr val="4FA87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594360" y="384962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4FA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 长期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920240" y="381304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判断力 + 品味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 + Taste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920240" y="4270248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在AI无法确定的地方做决策并承担责任。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对工作方式、激励机制、用户体验的审美——AI最难复制的能力。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Decision-making where AI can't — and aesthetic sense AI can't replicate.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791456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AI部门管理比 1:50（行业惯例 1:25）· LangChain创始人：Reviewer &gt; Coder </a:t>
            </a:r>
            <a:r>
              <a:rPr lang="en-US" sz="1100" i="1" dirty="0" err="1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是新稀缺资源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FA87A"/>
          </a:solidFill>
          <a:ln w="12700">
            <a:solidFill>
              <a:srgbClr val="4FA87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0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决策层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决策层的杠杆被放大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培育企业，而不只是管理企业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leverage of decision-makers is fundamentally amplified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8321040" cy="960120"/>
          </a:xfrm>
          <a:prstGeom prst="rect">
            <a:avLst/>
          </a:prstGeom>
          <a:solidFill>
            <a:srgbClr val="1A1726"/>
          </a:solidFill>
          <a:ln w="6350">
            <a:solidFill>
              <a:srgbClr val="2A26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50292" cy="960120"/>
          </a:xfrm>
          <a:prstGeom prst="rect">
            <a:avLst/>
          </a:prstGeom>
          <a:solidFill>
            <a:srgbClr val="C96744"/>
          </a:solidFill>
          <a:ln w="12700">
            <a:solidFill>
              <a:srgbClr val="C9674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612648" y="1700784"/>
            <a:ext cx="8119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  接近实时感受企业脉搏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12648" y="2048256"/>
            <a:ext cx="81198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AI工具让决策者可以在不依赖中间层汇报的情况下，实时看到所有运营数据。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扎克伯格的CEO Agent是这一趋势最具象化的案例（2026.03）。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operational pulse without relying on middle-layer reports.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688336"/>
            <a:ext cx="8321040" cy="960120"/>
          </a:xfrm>
          <a:prstGeom prst="rect">
            <a:avLst/>
          </a:prstGeom>
          <a:solidFill>
            <a:srgbClr val="1A1726"/>
          </a:solidFill>
          <a:ln w="6350">
            <a:solidFill>
              <a:srgbClr val="2A26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1" name="Shape 9"/>
          <p:cNvSpPr/>
          <p:nvPr/>
        </p:nvSpPr>
        <p:spPr>
          <a:xfrm>
            <a:off x="457200" y="2688336"/>
            <a:ext cx="50292" cy="960120"/>
          </a:xfrm>
          <a:prstGeom prst="rect">
            <a:avLst/>
          </a:prstGeom>
          <a:solidFill>
            <a:srgbClr val="D49A38"/>
          </a:solidFill>
          <a:ln w="12700">
            <a:solidFill>
              <a:srgbClr val="D49A3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612648" y="2816352"/>
            <a:ext cx="8119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自下而上的产品涌现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2648" y="3163824"/>
            <a:ext cx="81198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自上而下的产品定义让位给自下而上的涌现。企业的核心壁垒变成：培养出让创新涌现的环境，而不是管控每一个决策。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emergence replaces top-down definition. Core moat = environment for emergence.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803904"/>
            <a:ext cx="8321040" cy="960120"/>
          </a:xfrm>
          <a:prstGeom prst="rect">
            <a:avLst/>
          </a:prstGeom>
          <a:solidFill>
            <a:srgbClr val="1A1726"/>
          </a:solidFill>
          <a:ln w="6350">
            <a:solidFill>
              <a:srgbClr val="2A26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457200" y="3803904"/>
            <a:ext cx="50292" cy="960120"/>
          </a:xfrm>
          <a:prstGeom prst="rect">
            <a:avLst/>
          </a:prstGeom>
          <a:solidFill>
            <a:srgbClr val="4FA87A"/>
          </a:solidFill>
          <a:ln w="12700">
            <a:solidFill>
              <a:srgbClr val="4FA87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612648" y="3931920"/>
            <a:ext cx="8119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 产品经理中心制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12648" y="4279392"/>
            <a:ext cx="81198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从「需求翻译者」变成「判断力拥有者」。美团已让产品经理出原型再进入评审。核心能力：品味（做减法的审美）。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= editor, not translator. Prototype-first review process.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FA87A"/>
          </a:solidFill>
          <a:ln w="12700">
            <a:solidFill>
              <a:srgbClr val="4FA87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0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专家的悖论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行业专家的矛盾命运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Expert Paradox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3200400"/>
          </a:xfrm>
          <a:prstGeom prst="rect">
            <a:avLst/>
          </a:prstGeom>
          <a:solidFill>
            <a:srgbClr val="1A1726"/>
          </a:solidFill>
          <a:ln w="12700">
            <a:solidFill>
              <a:srgbClr val="4FA87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31920" cy="64008"/>
          </a:xfrm>
          <a:prstGeom prst="rect">
            <a:avLst/>
          </a:prstGeom>
          <a:solidFill>
            <a:srgbClr val="4FA87A"/>
          </a:solidFill>
          <a:ln w="12700">
            <a:solidFill>
              <a:srgbClr val="4FA87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457200" y="1681601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A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构建阶段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4FA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Phase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239385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越来越重要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MORE IMPORTANT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2670048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Agent构建中，专业经验的比例无限放大。没有行业专家，AI只能做通用任务，无法解决真实业务问题。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domain experts, AI only does generic tasks. Expert knowledge defines what gets built.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977640" cy="3200400"/>
          </a:xfrm>
          <a:prstGeom prst="rect">
            <a:avLst/>
          </a:prstGeom>
          <a:solidFill>
            <a:srgbClr val="1A1726"/>
          </a:solidFill>
          <a:ln w="12700">
            <a:solidFill>
              <a:srgbClr val="D4505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3977640" cy="64008"/>
          </a:xfrm>
          <a:prstGeom prst="rect">
            <a:avLst/>
          </a:prstGeom>
          <a:solidFill>
            <a:srgbClr val="D45050"/>
          </a:solidFill>
          <a:ln w="12700">
            <a:solidFill>
              <a:srgbClr val="D4505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4754880" y="1681601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稳定运行后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D4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Phase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2239385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越来越不重要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LESS IMPORTANT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92040" y="2670048"/>
            <a:ext cx="3703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系统跑通后，专家的边际价值趋近于零。你的知识被彻底数字化的那一刻，就是你被替代的起点。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system runs, expert marginal value → zero. Digitizing your knowledge = the start of replacement.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681728"/>
            <a:ext cx="8321040" cy="384048"/>
          </a:xfrm>
          <a:prstGeom prst="rect">
            <a:avLst/>
          </a:prstGeom>
          <a:solidFill>
            <a:srgbClr val="231F32"/>
          </a:solidFill>
          <a:ln w="635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594360" y="47274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8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唯一的评估标准：快速学习的能力。Anthropic/OpenAI招聘：3小时完成真实任务，不看简历看适应速度。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FA87A"/>
          </a:solidFill>
          <a:ln w="12700">
            <a:solidFill>
              <a:srgbClr val="4FA87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0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组织结构对比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组织不是变瘦了，是变形了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Orgs Are Not Shrinking — They're Reshaping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过去 / BEFORE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600200" y="1572768"/>
            <a:ext cx="1645920" cy="566928"/>
          </a:xfrm>
          <a:prstGeom prst="rect">
            <a:avLst/>
          </a:prstGeom>
          <a:solidFill>
            <a:srgbClr val="C96744"/>
          </a:solidFill>
          <a:ln w="12700">
            <a:solidFill>
              <a:srgbClr val="C96744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1600200" y="164592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60120" y="2212848"/>
            <a:ext cx="2926080" cy="566928"/>
          </a:xfrm>
          <a:prstGeom prst="rect">
            <a:avLst/>
          </a:prstGeom>
          <a:solidFill>
            <a:srgbClr val="D49A38"/>
          </a:solidFill>
          <a:ln w="12700">
            <a:solidFill>
              <a:srgbClr val="D49A3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9" name="Text 7"/>
          <p:cNvSpPr/>
          <p:nvPr/>
        </p:nvSpPr>
        <p:spPr>
          <a:xfrm>
            <a:off x="960120" y="228600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52928"/>
            <a:ext cx="3931920" cy="822960"/>
          </a:xfrm>
          <a:prstGeom prst="rect">
            <a:avLst/>
          </a:prstGeom>
          <a:solidFill>
            <a:srgbClr val="7A779A"/>
          </a:solidFill>
          <a:ln w="12700">
            <a:solidFill>
              <a:srgbClr val="7A779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3931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基层执行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AI时代 / AI ERA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74920" y="1572768"/>
            <a:ext cx="3474720" cy="804672"/>
          </a:xfrm>
          <a:prstGeom prst="rect">
            <a:avLst/>
          </a:prstGeom>
          <a:solidFill>
            <a:srgbClr val="C96744"/>
          </a:solidFill>
          <a:ln w="12700">
            <a:solidFill>
              <a:srgbClr val="C96744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4" name="Text 12"/>
          <p:cNvSpPr/>
          <p:nvPr/>
        </p:nvSpPr>
        <p:spPr>
          <a:xfrm>
            <a:off x="5074920" y="162763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决策层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杠杆放大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148072" y="2121408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更宽·权力更大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0" y="2468880"/>
            <a:ext cx="2286000" cy="658368"/>
          </a:xfrm>
          <a:prstGeom prst="rect">
            <a:avLst/>
          </a:prstGeom>
          <a:solidFill>
            <a:srgbClr val="D49A38"/>
          </a:solidFill>
          <a:ln w="12700">
            <a:solidFill>
              <a:srgbClr val="D49A3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5669280" y="252374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管理层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工作量↑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742432" y="2871216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更窄·但更忙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355080" y="3218688"/>
            <a:ext cx="914400" cy="475488"/>
          </a:xfrm>
          <a:prstGeom prst="rect">
            <a:avLst/>
          </a:prstGeom>
          <a:solidFill>
            <a:srgbClr val="7A779A"/>
          </a:solidFill>
          <a:ln w="12700">
            <a:solidFill>
              <a:srgbClr val="7A779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6355080" y="32735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基层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28232" y="3438144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大幅收缩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453128" y="1371600"/>
            <a:ext cx="0" cy="3017520"/>
          </a:xfrm>
          <a:prstGeom prst="line">
            <a:avLst/>
          </a:prstGeom>
          <a:noFill/>
          <a:ln w="12700">
            <a:solidFill>
              <a:srgbClr val="2A2640"/>
            </a:solidFill>
            <a:prstDash val="dash"/>
          </a:ln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4224528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57200" y="47091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管理层工作难度急剧上升，但人数压缩。基层消失得最快。决策层权力被极大放大。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96744"/>
          </a:solidFill>
          <a:ln w="12700">
            <a:solidFill>
              <a:srgbClr val="C9674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0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结尾  ·  行业命运的分叉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桶 vs 棍子</a:t>
            </a:r>
            <a:endParaRPr lang="en-US" sz="36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vs Stick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794760" cy="3246120"/>
          </a:xfrm>
          <a:prstGeom prst="rect">
            <a:avLst/>
          </a:prstGeom>
          <a:solidFill>
            <a:srgbClr val="1A1726"/>
          </a:solidFill>
          <a:ln w="15240">
            <a:solidFill>
              <a:srgbClr val="C9674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794760" cy="64008"/>
          </a:xfrm>
          <a:prstGeom prst="rect">
            <a:avLst/>
          </a:prstGeom>
          <a:solidFill>
            <a:srgbClr val="C96744"/>
          </a:solidFill>
          <a:ln w="12700">
            <a:solidFill>
              <a:srgbClr val="C9674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457200" y="143560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桶 / BUCKET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Scalable行业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359152"/>
            <a:ext cx="3520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AI让边际成本趋近于零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容量可以无限扩大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每新增一单位价值，成本不增加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典型：AI原生公司、数字服务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平台经济、知识产品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00600" y="1371600"/>
            <a:ext cx="3931920" cy="3246120"/>
          </a:xfrm>
          <a:prstGeom prst="rect">
            <a:avLst/>
          </a:prstGeom>
          <a:solidFill>
            <a:srgbClr val="1A1726"/>
          </a:solidFill>
          <a:ln w="10160">
            <a:solidFill>
              <a:srgbClr val="7A779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4800600" y="14356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棍子 / STICK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00600" y="1920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非Scalable行业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2359152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靠人力线性堆叠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AI来了直接变细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每新增一单位价值，都需要新增人力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典型：传统咨询、纸面IT服务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按人头计费的外包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681728"/>
            <a:ext cx="8321040" cy="384048"/>
          </a:xfrm>
          <a:prstGeom prst="rect">
            <a:avLst/>
          </a:prstGeom>
          <a:solidFill>
            <a:srgbClr val="231F32"/>
          </a:solidFill>
          <a:ln w="635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594360" y="47274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同一家公司里也有桶和棍子之分：找到你的桶，砍掉你的棍子 / Find your bucket, cut your sticks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96744"/>
          </a:solidFill>
          <a:ln w="12700">
            <a:solidFill>
              <a:srgbClr val="C9674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500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结尾  ·  2026年三个预言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Predictions for 2026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2026年的三个预言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321040" cy="1024128"/>
          </a:xfrm>
          <a:prstGeom prst="rect">
            <a:avLst/>
          </a:prstGeom>
          <a:solidFill>
            <a:srgbClr val="1A1726"/>
          </a:solidFill>
          <a:ln w="6350">
            <a:solidFill>
              <a:srgbClr val="2A2640"/>
            </a:solidFill>
            <a:prstDash val="solid"/>
          </a:ln>
          <a:effectLst>
            <a:outerShdw blurRad="1778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54864" cy="1024128"/>
          </a:xfrm>
          <a:prstGeom prst="rect">
            <a:avLst/>
          </a:prstGeom>
          <a:solidFill>
            <a:srgbClr val="D45050"/>
          </a:solidFill>
          <a:ln w="12700">
            <a:solidFill>
              <a:srgbClr val="D4505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594360" y="1298448"/>
            <a:ext cx="777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1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481328" y="138988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SaaS并购潮  /  SaaS Consolidation Wave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81328" y="180136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没有AI战略的SaaS公司将在12-18个月内被并购或消失。a16z估计：中间道路已经消失，生死在2026年见分晓。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without AI strategy dies or gets acquired in 12-18 months.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87168"/>
            <a:ext cx="8321040" cy="1024128"/>
          </a:xfrm>
          <a:prstGeom prst="rect">
            <a:avLst/>
          </a:prstGeom>
          <a:solidFill>
            <a:srgbClr val="1A1726"/>
          </a:solidFill>
          <a:ln w="6350">
            <a:solidFill>
              <a:srgbClr val="2A2640"/>
            </a:solidFill>
            <a:prstDash val="solid"/>
          </a:ln>
          <a:effectLst>
            <a:outerShdw blurRad="1778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1" name="Shape 9"/>
          <p:cNvSpPr/>
          <p:nvPr/>
        </p:nvSpPr>
        <p:spPr>
          <a:xfrm>
            <a:off x="457200" y="2487168"/>
            <a:ext cx="54864" cy="1024128"/>
          </a:xfrm>
          <a:prstGeom prst="rect">
            <a:avLst/>
          </a:prstGeom>
          <a:solidFill>
            <a:srgbClr val="D49A38"/>
          </a:solidFill>
          <a:ln w="12700">
            <a:solidFill>
              <a:srgbClr val="D49A3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594360" y="2487168"/>
            <a:ext cx="777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1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481328" y="257860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监督员岗位爆发  /  Rise of the AI Supervisor Role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81328" y="299008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类似「红袖标」的AI监督员将成为最大的新增就业形态。短期内承载大量基层工作的过渡型岗位大量涌现。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supervision roles = largest new employment category in 2026-2027.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675888"/>
            <a:ext cx="8321040" cy="1024128"/>
          </a:xfrm>
          <a:prstGeom prst="rect">
            <a:avLst/>
          </a:prstGeom>
          <a:solidFill>
            <a:srgbClr val="1A1726"/>
          </a:solidFill>
          <a:ln w="6350">
            <a:solidFill>
              <a:srgbClr val="2A2640"/>
            </a:solidFill>
            <a:prstDash val="solid"/>
          </a:ln>
          <a:effectLst>
            <a:outerShdw blurRad="177800" dist="508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6" name="Shape 14"/>
          <p:cNvSpPr/>
          <p:nvPr/>
        </p:nvSpPr>
        <p:spPr>
          <a:xfrm>
            <a:off x="457200" y="3675888"/>
            <a:ext cx="54864" cy="1024128"/>
          </a:xfrm>
          <a:prstGeom prst="rect">
            <a:avLst/>
          </a:prstGeom>
          <a:solidFill>
            <a:srgbClr val="4FA87A"/>
          </a:solidFill>
          <a:ln w="12700">
            <a:solidFill>
              <a:srgbClr val="4FA87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Text 15"/>
          <p:cNvSpPr/>
          <p:nvPr/>
        </p:nvSpPr>
        <p:spPr>
          <a:xfrm>
            <a:off x="594360" y="3675888"/>
            <a:ext cx="777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1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481328" y="376732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涌现能力之争  /  Competition for Emergence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81328" y="417880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企业竞争力的核心从「执行效率」转向「谁能建立让创新涌现的环境」。决策层的根本挑战：培育而非管控。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competitive edge shifts to 'who can build the environment for emergence'.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C96744"/>
          </a:solidFill>
          <a:ln w="12700">
            <a:solidFill>
              <a:srgbClr val="C9674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6858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MOAT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快速学习的能力，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85800" y="1920240"/>
            <a:ext cx="8046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是你在这个时代唯一可以相信的护城河。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85800" y="3182112"/>
            <a:ext cx="7772400" cy="0"/>
          </a:xfrm>
          <a:prstGeom prst="line">
            <a:avLst/>
          </a:prstGeom>
          <a:noFill/>
          <a:ln w="12700">
            <a:solidFill>
              <a:srgbClr val="2A264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685800" y="33101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ability to learn faster than the rate of change is the only durable competitive advantage.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41605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·  Discussion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2026.03  ·  技术，组织和工作的未来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E85EB9-9341-CCBA-4D89-C6C0046B1F3F}"/>
              </a:ext>
            </a:extLst>
          </p:cNvPr>
          <p:cNvSpPr txBox="1"/>
          <p:nvPr/>
        </p:nvSpPr>
        <p:spPr>
          <a:xfrm>
            <a:off x="865414" y="1612064"/>
            <a:ext cx="74131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3600" dirty="0">
                <a:effectLst/>
                <a:latin typeface="Helvetica Neue" panose="02000503000000020004" pitchFamily="2" charset="0"/>
              </a:rPr>
              <a:t> </a:t>
            </a:r>
            <a:r>
              <a:rPr lang="en-US" altLang="zh-CN" sz="3600" dirty="0">
                <a:effectLst/>
                <a:latin typeface="Helvetica Neue" panose="02000503000000020004" pitchFamily="2" charset="0"/>
              </a:rPr>
              <a:t>“</a:t>
            </a:r>
            <a:r>
              <a:rPr lang="zh-CN" altLang="en-US" sz="3600" dirty="0">
                <a:effectLst/>
                <a:latin typeface="PingFang SC"/>
              </a:rPr>
              <a:t>如果今天从零创建一家</a:t>
            </a:r>
            <a:r>
              <a:rPr lang="zh-CN" altLang="en-US" sz="3600" dirty="0">
                <a:latin typeface="PingFang SC"/>
              </a:rPr>
              <a:t>企业</a:t>
            </a:r>
            <a:r>
              <a:rPr lang="zh-CN" altLang="en-US" sz="3600" dirty="0">
                <a:effectLst/>
                <a:latin typeface="PingFang SC"/>
              </a:rPr>
              <a:t>，拥有无限</a:t>
            </a:r>
            <a:r>
              <a:rPr lang="en-US" sz="3600" dirty="0">
                <a:effectLst/>
                <a:latin typeface="Helvetica Neue" panose="02000503000000020004" pitchFamily="2" charset="0"/>
              </a:rPr>
              <a:t>AI</a:t>
            </a:r>
            <a:r>
              <a:rPr lang="zh-CN" altLang="en-US" sz="3600" dirty="0">
                <a:effectLst/>
                <a:latin typeface="PingFang SC"/>
              </a:rPr>
              <a:t>能力，它会长什么样？需要多少员工？哪些岗位？</a:t>
            </a:r>
            <a:r>
              <a:rPr lang="en-US" altLang="zh-CN" sz="3600" dirty="0">
                <a:effectLst/>
                <a:latin typeface="Helvetica Neue" panose="02000503000000020004" pitchFamily="2" charset="0"/>
              </a:rPr>
              <a:t>"</a:t>
            </a:r>
            <a:endParaRPr lang="zh-CN" altLang="en-US" sz="3600" dirty="0">
              <a:effectLst/>
              <a:latin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29750957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D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4EC790-A54C-519B-110A-A1FEA9843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77F4EA1-0659-2822-088F-2C0CDEE89C4C}"/>
              </a:ext>
            </a:extLst>
          </p:cNvPr>
          <p:cNvSpPr/>
          <p:nvPr/>
        </p:nvSpPr>
        <p:spPr>
          <a:xfrm>
            <a:off x="22860" y="0"/>
            <a:ext cx="411480" cy="5143500"/>
          </a:xfrm>
          <a:prstGeom prst="rect">
            <a:avLst/>
          </a:prstGeom>
          <a:solidFill>
            <a:srgbClr val="C96744"/>
          </a:solidFill>
          <a:ln w="12700">
            <a:solidFill>
              <a:srgbClr val="C9674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6F8BC5C-D124-E0F9-6C7D-ABA29AA5C757}"/>
              </a:ext>
            </a:extLst>
          </p:cNvPr>
          <p:cNvSpPr/>
          <p:nvPr/>
        </p:nvSpPr>
        <p:spPr>
          <a:xfrm>
            <a:off x="6858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zh-CN" altLang="en-US" sz="1200" b="1" kern="0" spc="500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200" b="1" kern="0" spc="500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Buzzwords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7012F28-828F-C5B3-A4D1-830A83B6C7D3}"/>
              </a:ext>
            </a:extLst>
          </p:cNvPr>
          <p:cNvSpPr/>
          <p:nvPr/>
        </p:nvSpPr>
        <p:spPr>
          <a:xfrm>
            <a:off x="685800" y="1392172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Buzzwords </a:t>
            </a:r>
          </a:p>
          <a:p>
            <a:pPr marL="0" indent="0">
              <a:buNone/>
            </a:pPr>
            <a:r>
              <a:rPr lang="en-US" sz="5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最新AI信息</a:t>
            </a:r>
            <a:r>
              <a:rPr lang="zh-CN" alt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分享</a:t>
            </a:r>
            <a:endParaRPr lang="en-US" altLang="zh-CN" sz="50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BC782E7-4622-62FC-337B-BB14AF7E16B2}"/>
              </a:ext>
            </a:extLst>
          </p:cNvPr>
          <p:cNvSpPr/>
          <p:nvPr/>
        </p:nvSpPr>
        <p:spPr>
          <a:xfrm>
            <a:off x="685800" y="41605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6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·  Discussion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6F250F9-CA7C-6DFD-9D1D-4BD1A078E58F}"/>
              </a:ext>
            </a:extLst>
          </p:cNvPr>
          <p:cNvSpPr/>
          <p:nvPr/>
        </p:nvSpPr>
        <p:spPr>
          <a:xfrm>
            <a:off x="68580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2026.03  ·  AI Buzzwords  ·  技术，组织和工作的未来</a:t>
            </a:r>
            <a:endParaRPr lang="en-US" sz="1100" dirty="0"/>
          </a:p>
        </p:txBody>
      </p:sp>
      <p:pic>
        <p:nvPicPr>
          <p:cNvPr id="5" name="Content Placeholder 6" descr="A qr code with a purple egg&#10;&#10;AI-generated content may be incorrect.">
            <a:extLst>
              <a:ext uri="{FF2B5EF4-FFF2-40B4-BE49-F238E27FC236}">
                <a16:creationId xmlns:a16="http://schemas.microsoft.com/office/drawing/2014/main" id="{1D24E826-BE07-051B-43DD-C9AF611FFB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6695" y="1005840"/>
            <a:ext cx="2692905" cy="26929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876106-CEA3-98DF-95A9-37580C6B88DE}"/>
              </a:ext>
            </a:extLst>
          </p:cNvPr>
          <p:cNvSpPr txBox="1"/>
          <p:nvPr/>
        </p:nvSpPr>
        <p:spPr>
          <a:xfrm>
            <a:off x="604982" y="247152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每周五中午</a:t>
            </a:r>
            <a:r>
              <a:rPr lang="en-US" altLang="zh-CN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r>
              <a:rPr lang="zh-CN" alt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</a:t>
            </a:r>
            <a:r>
              <a:rPr lang="en-US" altLang="zh-CN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r>
              <a:rPr lang="zh-CN" alt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</a:t>
            </a:r>
            <a:endParaRPr lang="en-US" altLang="zh-CN" sz="18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6E0004-4914-1D92-8475-0AFDE31692EA}"/>
              </a:ext>
            </a:extLst>
          </p:cNvPr>
          <p:cNvSpPr txBox="1"/>
          <p:nvPr/>
        </p:nvSpPr>
        <p:spPr>
          <a:xfrm>
            <a:off x="5536694" y="3925559"/>
            <a:ext cx="26929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N" sz="1400" dirty="0">
                <a:solidFill>
                  <a:schemeClr val="bg1"/>
                </a:solidFill>
              </a:rPr>
              <a:t>关注公众号</a:t>
            </a:r>
            <a:r>
              <a:rPr lang="zh-CN" altLang="en-US" sz="1400" dirty="0">
                <a:solidFill>
                  <a:schemeClr val="bg1"/>
                </a:solidFill>
              </a:rPr>
              <a:t>，获得最新分享</a:t>
            </a:r>
            <a:endParaRPr lang="en-CN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512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2252</Words>
  <Application>Microsoft Macintosh PowerPoint</Application>
  <PresentationFormat>On-screen Show (16:9)</PresentationFormat>
  <Paragraphs>527</Paragraphs>
  <Slides>38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PingFang SC</vt:lpstr>
      <vt:lpstr>Arial</vt:lpstr>
      <vt:lpstr>Calibri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技术，组织和工作的未来</dc:title>
  <dc:subject>PptxGenJS Presentation</dc:subject>
  <dc:creator>PptxGenJS</dc:creator>
  <cp:lastModifiedBy>Xiaoping Feng</cp:lastModifiedBy>
  <cp:revision>30</cp:revision>
  <dcterms:created xsi:type="dcterms:W3CDTF">2026-03-30T15:25:17Z</dcterms:created>
  <dcterms:modified xsi:type="dcterms:W3CDTF">2026-04-10T23:43:02Z</dcterms:modified>
</cp:coreProperties>
</file>